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3970000" cy="1079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A6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51"/>
    <p:restoredTop sz="96327"/>
  </p:normalViewPr>
  <p:slideViewPr>
    <p:cSldViewPr snapToGrid="0">
      <p:cViewPr varScale="1">
        <p:scale>
          <a:sx n="81" d="100"/>
          <a:sy n="81" d="100"/>
        </p:scale>
        <p:origin x="152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el título"/>
          <p:cNvSpPr txBox="1">
            <a:spLocks noGrp="1"/>
          </p:cNvSpPr>
          <p:nvPr>
            <p:ph type="title"/>
          </p:nvPr>
        </p:nvSpPr>
        <p:spPr>
          <a:xfrm>
            <a:off x="1364257" y="1918642"/>
            <a:ext cx="11241486" cy="3547071"/>
          </a:xfrm>
          <a:prstGeom prst="rect">
            <a:avLst/>
          </a:prstGeom>
        </p:spPr>
        <p:txBody>
          <a:bodyPr anchor="b"/>
          <a:lstStyle/>
          <a:p>
            <a:r>
              <a:t>Texto del título</a:t>
            </a:r>
          </a:p>
        </p:txBody>
      </p:sp>
      <p:sp>
        <p:nvSpPr>
          <p:cNvPr id="12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1364257" y="5561210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n"/>
          <p:cNvSpPr>
            <a:spLocks noGrp="1"/>
          </p:cNvSpPr>
          <p:nvPr>
            <p:ph type="pic" idx="21"/>
          </p:nvPr>
        </p:nvSpPr>
        <p:spPr>
          <a:xfrm>
            <a:off x="1725786" y="840878"/>
            <a:ext cx="10504786" cy="700683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exto del título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Texto del título</a:t>
            </a:r>
          </a:p>
        </p:txBody>
      </p:sp>
      <p:sp>
        <p:nvSpPr>
          <p:cNvPr id="22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3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o del título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3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n"/>
          <p:cNvSpPr>
            <a:spLocks noGrp="1"/>
          </p:cNvSpPr>
          <p:nvPr>
            <p:ph type="pic" idx="21"/>
          </p:nvPr>
        </p:nvSpPr>
        <p:spPr>
          <a:xfrm>
            <a:off x="2919511" y="840878"/>
            <a:ext cx="13274230" cy="884948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exto del título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 b="1"/>
            </a:lvl1pPr>
          </a:lstStyle>
          <a:p>
            <a:r>
              <a:t>Texto del título</a:t>
            </a:r>
          </a:p>
        </p:txBody>
      </p:sp>
      <p:sp>
        <p:nvSpPr>
          <p:cNvPr id="40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49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57" name="Nivel de texto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5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n"/>
          <p:cNvSpPr>
            <a:spLocks noGrp="1"/>
          </p:cNvSpPr>
          <p:nvPr>
            <p:ph type="pic" idx="21"/>
          </p:nvPr>
        </p:nvSpPr>
        <p:spPr>
          <a:xfrm>
            <a:off x="4870400" y="2955478"/>
            <a:ext cx="10129615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67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sz="1200" b="1"/>
            </a:lvl1pPr>
            <a:lvl2pPr marL="489857" indent="-146957">
              <a:defRPr sz="1200" b="1"/>
            </a:lvl2pPr>
            <a:lvl3pPr marL="832757" indent="-146957">
              <a:defRPr sz="1200" b="1"/>
            </a:lvl3pPr>
            <a:lvl4pPr marL="1175657" indent="-146957">
              <a:defRPr sz="1200" b="1"/>
            </a:lvl4pPr>
            <a:lvl5pPr marL="1518557" indent="-146957">
              <a:defRPr sz="1200" b="1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6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Nivel de texto 1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6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n"/>
          <p:cNvSpPr>
            <a:spLocks noGrp="1"/>
          </p:cNvSpPr>
          <p:nvPr>
            <p:ph type="pic" idx="21"/>
          </p:nvPr>
        </p:nvSpPr>
        <p:spPr>
          <a:xfrm>
            <a:off x="-2551163" y="1113730"/>
            <a:ext cx="12864953" cy="857663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n"/>
          <p:cNvSpPr>
            <a:spLocks noGrp="1"/>
          </p:cNvSpPr>
          <p:nvPr>
            <p:ph type="pic" sz="quarter" idx="22"/>
          </p:nvPr>
        </p:nvSpPr>
        <p:spPr>
          <a:xfrm>
            <a:off x="7175996" y="5558791"/>
            <a:ext cx="6507511" cy="4340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n"/>
          <p:cNvSpPr>
            <a:spLocks noGrp="1"/>
          </p:cNvSpPr>
          <p:nvPr>
            <p:ph type="pic" sz="quarter" idx="23"/>
          </p:nvPr>
        </p:nvSpPr>
        <p:spPr>
          <a:xfrm>
            <a:off x="6985000" y="1111310"/>
            <a:ext cx="6302872" cy="420191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21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22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n"/>
          <p:cNvSpPr>
            <a:spLocks noGrp="1"/>
          </p:cNvSpPr>
          <p:nvPr>
            <p:ph type="pic" idx="21"/>
          </p:nvPr>
        </p:nvSpPr>
        <p:spPr>
          <a:xfrm>
            <a:off x="-873125" y="158750"/>
            <a:ext cx="1570806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3" name="Nivel de texto 1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123472" marR="0" indent="-123472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567972" marR="0" indent="-123472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1012472" marR="0" indent="-123472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1456972" marR="0" indent="-123472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1901472" marR="0" indent="-123472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2345972" marR="0" indent="-123472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2790472" marR="0" indent="-123472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3234972" marR="0" indent="-123472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3679472" marR="0" indent="-123472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ángulo"/>
          <p:cNvSpPr/>
          <p:nvPr/>
        </p:nvSpPr>
        <p:spPr>
          <a:xfrm>
            <a:off x="-3421" y="747147"/>
            <a:ext cx="3661274" cy="6727689"/>
          </a:xfrm>
          <a:prstGeom prst="rect">
            <a:avLst/>
          </a:prstGeom>
          <a:solidFill>
            <a:srgbClr val="75D142">
              <a:alpha val="19796"/>
            </a:srgbClr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23" name="Data visualization with ggplot2 : : CHEATSHEET"/>
          <p:cNvSpPr txBox="1">
            <a:spLocks noGrp="1"/>
          </p:cNvSpPr>
          <p:nvPr>
            <p:ph type="title"/>
          </p:nvPr>
        </p:nvSpPr>
        <p:spPr>
          <a:xfrm>
            <a:off x="32036" y="37375"/>
            <a:ext cx="13927509" cy="114076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defTabSz="531622">
              <a:defRPr sz="4368"/>
            </a:pPr>
            <a:r>
              <a:rPr lang="fr-FR" sz="4500" dirty="0"/>
              <a:t>Introduction to R : </a:t>
            </a:r>
            <a:r>
              <a:rPr sz="4500" dirty="0"/>
              <a:t> </a:t>
            </a:r>
            <a:r>
              <a:rPr sz="4500" b="1" dirty="0"/>
              <a:t>CHEATSHEET</a:t>
            </a:r>
            <a:r>
              <a:rPr sz="4500" dirty="0"/>
              <a:t> </a:t>
            </a:r>
            <a:r>
              <a:rPr lang="fr-FR" sz="4500" dirty="0"/>
              <a:t>      </a:t>
            </a:r>
            <a:r>
              <a:rPr lang="fr-FR" sz="2400" dirty="0"/>
              <a:t>Alexandre Bentaberry-Rosa</a:t>
            </a:r>
            <a:endParaRPr sz="4500" dirty="0"/>
          </a:p>
        </p:txBody>
      </p:sp>
      <p:sp>
        <p:nvSpPr>
          <p:cNvPr id="132" name="Rectángulo"/>
          <p:cNvSpPr/>
          <p:nvPr/>
        </p:nvSpPr>
        <p:spPr>
          <a:xfrm>
            <a:off x="3666016" y="743751"/>
            <a:ext cx="3667481" cy="1012443"/>
          </a:xfrm>
          <a:prstGeom prst="rect">
            <a:avLst/>
          </a:prstGeom>
          <a:gradFill>
            <a:gsLst>
              <a:gs pos="0">
                <a:srgbClr val="FFFFFF">
                  <a:alpha val="32629"/>
                </a:srgbClr>
              </a:gs>
              <a:gs pos="100000">
                <a:srgbClr val="75D142">
                  <a:alpha val="32629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35" name="ggplot2 is based on the grammar of graphics, the idea that you can build every graph from the same components: a data set, a coordinate system, and geoms—visual marks that represent data points."/>
          <p:cNvSpPr txBox="1"/>
          <p:nvPr/>
        </p:nvSpPr>
        <p:spPr>
          <a:xfrm>
            <a:off x="10454" y="1097728"/>
            <a:ext cx="3531945" cy="945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r>
              <a:rPr lang="fr-FR" sz="1100" dirty="0">
                <a:solidFill>
                  <a:srgbClr val="FF0000"/>
                </a:solidFill>
              </a:rPr>
              <a:t>Class(X)</a:t>
            </a:r>
            <a:r>
              <a:rPr lang="fr-FR" sz="1100" dirty="0">
                <a:sym typeface="Wingdings" pitchFamily="2" charset="2"/>
              </a:rPr>
              <a:t> </a:t>
            </a:r>
            <a:r>
              <a:rPr lang="fr-FR" sz="1100" dirty="0" err="1">
                <a:sym typeface="Wingdings" pitchFamily="2" charset="2"/>
              </a:rPr>
              <a:t>Visualizaçao</a:t>
            </a:r>
            <a:r>
              <a:rPr lang="fr-FR" sz="1100" dirty="0">
                <a:sym typeface="Wingdings" pitchFamily="2" charset="2"/>
              </a:rPr>
              <a:t> do </a:t>
            </a:r>
            <a:r>
              <a:rPr lang="fr-FR" sz="1100" dirty="0" err="1">
                <a:sym typeface="Wingdings" pitchFamily="2" charset="2"/>
              </a:rPr>
              <a:t>tipo</a:t>
            </a:r>
            <a:r>
              <a:rPr lang="fr-FR" sz="1100" dirty="0">
                <a:sym typeface="Wingdings" pitchFamily="2" charset="2"/>
              </a:rPr>
              <a:t> de </a:t>
            </a:r>
            <a:r>
              <a:rPr lang="fr-FR" sz="1100" dirty="0" err="1">
                <a:sym typeface="Wingdings" pitchFamily="2" charset="2"/>
              </a:rPr>
              <a:t>objeto</a:t>
            </a:r>
            <a:endParaRPr lang="fr-FR" sz="1100" dirty="0">
              <a:sym typeface="Wingdings" pitchFamily="2" charset="2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r>
              <a:rPr lang="fr-FR" sz="1100" dirty="0">
                <a:solidFill>
                  <a:srgbClr val="FF0000"/>
                </a:solidFill>
                <a:sym typeface="Wingdings" pitchFamily="2" charset="2"/>
              </a:rPr>
              <a:t>Head</a:t>
            </a:r>
            <a:r>
              <a:rPr lang="fr-FR" sz="1100" dirty="0">
                <a:solidFill>
                  <a:srgbClr val="FF0000"/>
                </a:solidFill>
              </a:rPr>
              <a:t> (X)</a:t>
            </a:r>
            <a:r>
              <a:rPr lang="fr-FR" sz="11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fr-FR" sz="1100" dirty="0">
                <a:sym typeface="Wingdings" pitchFamily="2" charset="2"/>
              </a:rPr>
              <a:t></a:t>
            </a:r>
            <a:r>
              <a:rPr lang="fr-FR" sz="1100" dirty="0"/>
              <a:t> </a:t>
            </a:r>
            <a:r>
              <a:rPr lang="fr-FR" sz="1100" dirty="0" err="1"/>
              <a:t>Visualizaçao</a:t>
            </a:r>
            <a:r>
              <a:rPr lang="fr-FR" sz="1100" dirty="0"/>
              <a:t> </a:t>
            </a:r>
            <a:r>
              <a:rPr lang="fr-FR" sz="1100" dirty="0" err="1"/>
              <a:t>das</a:t>
            </a:r>
            <a:r>
              <a:rPr lang="fr-FR" sz="1100" dirty="0"/>
              <a:t> </a:t>
            </a:r>
            <a:r>
              <a:rPr lang="fr-FR" sz="1100" dirty="0" err="1"/>
              <a:t>primeiras</a:t>
            </a:r>
            <a:r>
              <a:rPr lang="fr-FR" sz="1100" dirty="0"/>
              <a:t> </a:t>
            </a:r>
            <a:r>
              <a:rPr lang="fr-FR" sz="1100" dirty="0" err="1"/>
              <a:t>linhas</a:t>
            </a:r>
            <a:endParaRPr lang="fr-FR" sz="1100" dirty="0"/>
          </a:p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r>
              <a:rPr lang="fr-FR" sz="1100" dirty="0">
                <a:solidFill>
                  <a:srgbClr val="FF0000"/>
                </a:solidFill>
              </a:rPr>
              <a:t>Tail (X) </a:t>
            </a:r>
            <a:r>
              <a:rPr lang="fr-FR" sz="1100" dirty="0">
                <a:sym typeface="Wingdings" pitchFamily="2" charset="2"/>
              </a:rPr>
              <a:t> </a:t>
            </a:r>
            <a:r>
              <a:rPr lang="fr-FR" sz="1100" dirty="0" err="1"/>
              <a:t>Visualizaçao</a:t>
            </a:r>
            <a:r>
              <a:rPr lang="fr-FR" sz="1100" dirty="0"/>
              <a:t> </a:t>
            </a:r>
            <a:r>
              <a:rPr lang="fr-FR" sz="1100" dirty="0" err="1"/>
              <a:t>das</a:t>
            </a:r>
            <a:r>
              <a:rPr lang="fr-FR" sz="1100" dirty="0"/>
              <a:t> </a:t>
            </a:r>
            <a:r>
              <a:rPr lang="fr-FR" sz="1100" dirty="0" err="1"/>
              <a:t>ultimas</a:t>
            </a:r>
            <a:r>
              <a:rPr lang="fr-FR" sz="1100" dirty="0"/>
              <a:t> </a:t>
            </a:r>
            <a:r>
              <a:rPr lang="fr-FR" sz="1100" dirty="0" err="1"/>
              <a:t>linhas</a:t>
            </a:r>
            <a:endParaRPr lang="fr-FR" sz="1100" dirty="0"/>
          </a:p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r>
              <a:rPr lang="fr-FR" sz="1100" dirty="0">
                <a:solidFill>
                  <a:srgbClr val="FF0000"/>
                </a:solidFill>
              </a:rPr>
              <a:t>ls( ) </a:t>
            </a:r>
            <a:r>
              <a:rPr lang="fr-FR" sz="1100" dirty="0">
                <a:sym typeface="Wingdings" pitchFamily="2" charset="2"/>
              </a:rPr>
              <a:t> Lista </a:t>
            </a:r>
            <a:r>
              <a:rPr lang="fr-FR" sz="1100" dirty="0" err="1">
                <a:sym typeface="Wingdings" pitchFamily="2" charset="2"/>
              </a:rPr>
              <a:t>todos</a:t>
            </a:r>
            <a:r>
              <a:rPr lang="fr-FR" sz="1100" dirty="0">
                <a:sym typeface="Wingdings" pitchFamily="2" charset="2"/>
              </a:rPr>
              <a:t> os </a:t>
            </a:r>
            <a:r>
              <a:rPr lang="fr-FR" sz="1100" dirty="0" err="1">
                <a:sym typeface="Wingdings" pitchFamily="2" charset="2"/>
              </a:rPr>
              <a:t>objetos</a:t>
            </a:r>
            <a:r>
              <a:rPr lang="fr-FR" sz="1100" dirty="0">
                <a:sym typeface="Wingdings" pitchFamily="2" charset="2"/>
              </a:rPr>
              <a:t> </a:t>
            </a:r>
            <a:r>
              <a:rPr lang="fr-FR" sz="1100" dirty="0" err="1">
                <a:sym typeface="Wingdings" pitchFamily="2" charset="2"/>
              </a:rPr>
              <a:t>gravados</a:t>
            </a:r>
            <a:r>
              <a:rPr lang="fr-FR" sz="1100" dirty="0">
                <a:sym typeface="Wingdings" pitchFamily="2" charset="2"/>
              </a:rPr>
              <a:t> na </a:t>
            </a:r>
            <a:r>
              <a:rPr lang="fr-FR" sz="1100" dirty="0" err="1">
                <a:sym typeface="Wingdings" pitchFamily="2" charset="2"/>
              </a:rPr>
              <a:t>memoria</a:t>
            </a:r>
            <a:endParaRPr lang="fr-FR" sz="1100" dirty="0">
              <a:sym typeface="Wingdings" pitchFamily="2" charset="2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r>
              <a:rPr lang="fr-FR" sz="1100" dirty="0" err="1">
                <a:solidFill>
                  <a:srgbClr val="FF0000"/>
                </a:solidFill>
                <a:sym typeface="Wingdings" pitchFamily="2" charset="2"/>
              </a:rPr>
              <a:t>rm</a:t>
            </a:r>
            <a:r>
              <a:rPr lang="fr-FR" sz="1100" dirty="0">
                <a:solidFill>
                  <a:srgbClr val="FF0000"/>
                </a:solidFill>
                <a:sym typeface="Wingdings" pitchFamily="2" charset="2"/>
              </a:rPr>
              <a:t>(X) </a:t>
            </a:r>
            <a:r>
              <a:rPr lang="fr-FR" sz="1100" dirty="0">
                <a:sym typeface="Wingdings" pitchFamily="2" charset="2"/>
              </a:rPr>
              <a:t> </a:t>
            </a:r>
            <a:r>
              <a:rPr lang="fr-FR" sz="1100" dirty="0" err="1">
                <a:sym typeface="Wingdings" pitchFamily="2" charset="2"/>
              </a:rPr>
              <a:t>Remove</a:t>
            </a:r>
            <a:r>
              <a:rPr lang="fr-FR" sz="1100" dirty="0">
                <a:sym typeface="Wingdings" pitchFamily="2" charset="2"/>
              </a:rPr>
              <a:t> </a:t>
            </a:r>
            <a:r>
              <a:rPr lang="fr-FR" sz="1100" dirty="0" err="1">
                <a:sym typeface="Wingdings" pitchFamily="2" charset="2"/>
              </a:rPr>
              <a:t>objetos</a:t>
            </a:r>
            <a:r>
              <a:rPr lang="fr-FR" sz="1100" dirty="0">
                <a:sym typeface="Wingdings" pitchFamily="2" charset="2"/>
              </a:rPr>
              <a:t> da </a:t>
            </a:r>
            <a:r>
              <a:rPr lang="fr-FR" sz="1100" dirty="0" err="1">
                <a:sym typeface="Wingdings" pitchFamily="2" charset="2"/>
              </a:rPr>
              <a:t>memoria</a:t>
            </a:r>
            <a:endParaRPr lang="fr-FR" sz="1100" dirty="0"/>
          </a:p>
        </p:txBody>
      </p:sp>
      <p:sp>
        <p:nvSpPr>
          <p:cNvPr id="136" name="Basics"/>
          <p:cNvSpPr txBox="1"/>
          <p:nvPr/>
        </p:nvSpPr>
        <p:spPr>
          <a:xfrm>
            <a:off x="-3423" y="864163"/>
            <a:ext cx="3725661" cy="281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3DA642"/>
                </a:solidFill>
              </a:defRPr>
            </a:pPr>
            <a:r>
              <a:rPr lang="fr-FR" sz="2000" dirty="0"/>
              <a:t>OBJETOS E TIPOS DE DADOS</a:t>
            </a:r>
            <a:endParaRPr sz="2000" dirty="0"/>
          </a:p>
        </p:txBody>
      </p:sp>
      <p:sp>
        <p:nvSpPr>
          <p:cNvPr id="137" name="Línea"/>
          <p:cNvSpPr/>
          <p:nvPr/>
        </p:nvSpPr>
        <p:spPr>
          <a:xfrm>
            <a:off x="344039" y="1217208"/>
            <a:ext cx="3037294" cy="1"/>
          </a:xfrm>
          <a:prstGeom prst="line">
            <a:avLst/>
          </a:prstGeom>
          <a:ln w="3175">
            <a:solidFill>
              <a:srgbClr val="FFF2C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38" name="Línea"/>
          <p:cNvSpPr/>
          <p:nvPr/>
        </p:nvSpPr>
        <p:spPr>
          <a:xfrm>
            <a:off x="3722239" y="1211871"/>
            <a:ext cx="8204968" cy="1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39" name="GRAPHICAL PRIMITIVES"/>
          <p:cNvSpPr txBox="1"/>
          <p:nvPr/>
        </p:nvSpPr>
        <p:spPr>
          <a:xfrm>
            <a:off x="3682483" y="853725"/>
            <a:ext cx="3294172" cy="281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3DA642"/>
                </a:solidFill>
              </a:defRPr>
            </a:pPr>
            <a:r>
              <a:rPr lang="fr-FR" sz="2000" b="0" dirty="0">
                <a:solidFill>
                  <a:srgbClr val="3DA642"/>
                </a:solidFill>
              </a:rPr>
              <a:t>ESTATISTICA DESCRITIVA</a:t>
            </a:r>
            <a:endParaRPr sz="2000" b="0" dirty="0">
              <a:solidFill>
                <a:srgbClr val="3DA642"/>
              </a:solidFill>
            </a:endParaRPr>
          </a:p>
        </p:txBody>
      </p:sp>
      <p:sp>
        <p:nvSpPr>
          <p:cNvPr id="143" name="+"/>
          <p:cNvSpPr txBox="1"/>
          <p:nvPr/>
        </p:nvSpPr>
        <p:spPr>
          <a:xfrm>
            <a:off x="1024751" y="2441129"/>
            <a:ext cx="65" cy="306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2400">
                <a:solidFill>
                  <a:srgbClr val="A7AAA9"/>
                </a:solidFill>
              </a:defRPr>
            </a:lvl1pPr>
          </a:lstStyle>
          <a:p>
            <a:endParaRPr dirty="0"/>
          </a:p>
        </p:txBody>
      </p:sp>
      <p:sp>
        <p:nvSpPr>
          <p:cNvPr id="145" name="To display values, map variables in the data to visual properties of the geom (aesthetics) like size, color, and x and y locations."/>
          <p:cNvSpPr txBox="1"/>
          <p:nvPr/>
        </p:nvSpPr>
        <p:spPr>
          <a:xfrm>
            <a:off x="1599" y="2123395"/>
            <a:ext cx="3531945" cy="54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 fontScale="92500" lnSpcReduction="10000"/>
          </a:bodyPr>
          <a:lstStyle/>
          <a:p>
            <a:r>
              <a:rPr lang="fr-FR" sz="1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que um pacote </a:t>
            </a:r>
            <a:r>
              <a:rPr lang="fr-FR" sz="1000" b="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possa</a:t>
            </a:r>
            <a:r>
              <a:rPr lang="fr-FR" sz="1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000" b="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rodar</a:t>
            </a:r>
            <a:r>
              <a:rPr lang="fr-FR" sz="1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R, </a:t>
            </a:r>
            <a:r>
              <a:rPr lang="fr-FR" sz="1000" b="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fr-FR" sz="1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000" b="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necessario</a:t>
            </a:r>
            <a:r>
              <a:rPr lang="fr-FR" sz="1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000" b="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</a:t>
            </a:r>
            <a:r>
              <a:rPr lang="fr-FR" sz="1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-lo e </a:t>
            </a:r>
            <a:r>
              <a:rPr lang="fr-FR" sz="1000" b="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</a:t>
            </a:r>
            <a:r>
              <a:rPr lang="fr-FR" sz="1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-lo.</a:t>
            </a:r>
          </a:p>
          <a:p>
            <a:r>
              <a:rPr lang="fr-FR" sz="1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- </a:t>
            </a:r>
            <a:r>
              <a:rPr lang="fr-FR" sz="11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install.packages</a:t>
            </a:r>
            <a:r>
              <a:rPr lang="fr-FR" sz="1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(pacote </a:t>
            </a:r>
            <a:r>
              <a:rPr lang="fr-FR" sz="11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desejado</a:t>
            </a:r>
            <a:r>
              <a:rPr lang="fr-FR" sz="1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 </a:t>
            </a:r>
          </a:p>
          <a:p>
            <a:r>
              <a:rPr lang="fr-FR" sz="11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Funçoes</a:t>
            </a:r>
            <a:r>
              <a:rPr lang="fr-FR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1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essenciais</a:t>
            </a:r>
            <a:r>
              <a:rPr lang="fr-FR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R: </a:t>
            </a:r>
          </a:p>
          <a:p>
            <a:r>
              <a:rPr lang="pt-BR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pt-BR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nome_do_pacote</a:t>
            </a:r>
            <a:r>
              <a:rPr lang="pt-BR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dirty="0">
                <a:sym typeface="Wingdings" pitchFamily="2" charset="2"/>
              </a:rPr>
              <a:t>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Carregar o pacote</a:t>
            </a: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read.csv</a:t>
            </a:r>
            <a:r>
              <a:rPr lang="pt-BR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ou </a:t>
            </a:r>
            <a:r>
              <a:rPr lang="pt-BR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read.table</a:t>
            </a:r>
            <a:r>
              <a:rPr lang="pt-BR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Importar dados.</a:t>
            </a: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write.csv</a:t>
            </a:r>
            <a:r>
              <a:rPr lang="pt-BR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Exportar.</a:t>
            </a: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r>
              <a:rPr lang="pt-BR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Filtrar dados.</a:t>
            </a: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merge()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Juntar tabelas.</a:t>
            </a: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</a:t>
            </a:r>
            <a:r>
              <a:rPr lang="pt-BR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Agregar dados por grupos.</a:t>
            </a:r>
          </a:p>
          <a:p>
            <a:endParaRPr lang="pt-B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Podemos usar funções matemáticas:</a:t>
            </a:r>
          </a:p>
          <a:p>
            <a:endParaRPr lang="pt-B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100" dirty="0">
                <a:solidFill>
                  <a:srgbClr val="FF0000"/>
                </a:solidFill>
              </a:rPr>
              <a:t>round(3.14159, 2) </a:t>
            </a:r>
            <a:r>
              <a:rPr lang="fr-FR" sz="1100" dirty="0">
                <a:sym typeface="Wingdings" pitchFamily="2" charset="2"/>
              </a:rPr>
              <a:t>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Arredonda para 2 casas decimais.</a:t>
            </a: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100" dirty="0" err="1">
                <a:solidFill>
                  <a:srgbClr val="FF0000"/>
                </a:solidFill>
              </a:rPr>
              <a:t>ceiling</a:t>
            </a:r>
            <a:r>
              <a:rPr lang="pt-BR" sz="1100" dirty="0">
                <a:solidFill>
                  <a:srgbClr val="FF0000"/>
                </a:solidFill>
              </a:rPr>
              <a:t>(3.2)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Arredonda para o próximo inteiro acima.</a:t>
            </a:r>
          </a:p>
          <a:p>
            <a:r>
              <a:rPr lang="pt-BR" sz="1100" dirty="0" err="1">
                <a:solidFill>
                  <a:srgbClr val="FF0000"/>
                </a:solidFill>
              </a:rPr>
              <a:t>floor</a:t>
            </a:r>
            <a:r>
              <a:rPr lang="pt-BR" sz="1100" dirty="0">
                <a:solidFill>
                  <a:srgbClr val="FF0000"/>
                </a:solidFill>
              </a:rPr>
              <a:t>(3.1)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Arredonda para o inteiro abaixo. </a:t>
            </a:r>
          </a:p>
          <a:p>
            <a:r>
              <a:rPr lang="pt-BR" sz="1100" dirty="0" err="1">
                <a:solidFill>
                  <a:srgbClr val="FF0000"/>
                </a:solidFill>
              </a:rPr>
              <a:t>trunc</a:t>
            </a:r>
            <a:r>
              <a:rPr lang="pt-BR" sz="1100" dirty="0">
                <a:solidFill>
                  <a:srgbClr val="FF0000"/>
                </a:solidFill>
              </a:rPr>
              <a:t>(3.9)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Pega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fr-F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número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fr-F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deixa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parte </a:t>
            </a:r>
            <a:r>
              <a:rPr lang="fr-F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inteira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t-BR" sz="11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Podemos criar sequências e repetições:</a:t>
            </a:r>
          </a:p>
          <a:p>
            <a:r>
              <a:rPr lang="pt-BR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Sequência Simples (1:10)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Gera </a:t>
            </a:r>
            <a:r>
              <a:rPr lang="fr-F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todos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 </a:t>
            </a:r>
            <a:r>
              <a:rPr lang="fr-F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números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1 </a:t>
            </a:r>
            <a:r>
              <a:rPr lang="fr-F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até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10, de 1 </a:t>
            </a:r>
            <a:r>
              <a:rPr lang="fr-F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endParaRPr lang="pt-B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100" dirty="0" err="1">
                <a:solidFill>
                  <a:srgbClr val="FF0000"/>
                </a:solidFill>
              </a:rPr>
              <a:t>seq</a:t>
            </a:r>
            <a:r>
              <a:rPr lang="fr-FR" sz="1100" dirty="0">
                <a:solidFill>
                  <a:srgbClr val="FF0000"/>
                </a:solidFill>
              </a:rPr>
              <a:t>(</a:t>
            </a:r>
            <a:r>
              <a:rPr lang="fr-FR" sz="1100" dirty="0" err="1">
                <a:solidFill>
                  <a:srgbClr val="FF0000"/>
                </a:solidFill>
              </a:rPr>
              <a:t>from</a:t>
            </a:r>
            <a:r>
              <a:rPr lang="fr-FR" sz="1100" dirty="0">
                <a:solidFill>
                  <a:srgbClr val="FF0000"/>
                </a:solidFill>
              </a:rPr>
              <a:t>, to, by) </a:t>
            </a:r>
            <a:r>
              <a:rPr lang="fr-FR" sz="1100" dirty="0">
                <a:sym typeface="Wingdings" pitchFamily="2" charset="2"/>
              </a:rPr>
              <a:t> </a:t>
            </a:r>
            <a:r>
              <a:rPr lang="fr-FR" sz="1100" dirty="0" err="1">
                <a:sym typeface="Wingdings" pitchFamily="2" charset="2"/>
              </a:rPr>
              <a:t>Sequência</a:t>
            </a:r>
            <a:r>
              <a:rPr lang="fr-FR" sz="1100" dirty="0">
                <a:sym typeface="Wingdings" pitchFamily="2" charset="2"/>
              </a:rPr>
              <a:t> de </a:t>
            </a:r>
            <a:r>
              <a:rPr lang="fr-FR" sz="1100" dirty="0" err="1">
                <a:sym typeface="Wingdings" pitchFamily="2" charset="2"/>
              </a:rPr>
              <a:t>tal</a:t>
            </a:r>
            <a:r>
              <a:rPr lang="fr-FR" sz="1100" dirty="0">
                <a:sym typeface="Wingdings" pitchFamily="2" charset="2"/>
              </a:rPr>
              <a:t> </a:t>
            </a:r>
            <a:r>
              <a:rPr lang="fr-FR" sz="1100" dirty="0" err="1">
                <a:sym typeface="Wingdings" pitchFamily="2" charset="2"/>
              </a:rPr>
              <a:t>numero</a:t>
            </a:r>
            <a:r>
              <a:rPr lang="fr-FR" sz="1100" dirty="0">
                <a:sym typeface="Wingdings" pitchFamily="2" charset="2"/>
              </a:rPr>
              <a:t> </a:t>
            </a:r>
            <a:r>
              <a:rPr lang="fr-FR" sz="1100" dirty="0" err="1">
                <a:sym typeface="Wingdings" pitchFamily="2" charset="2"/>
              </a:rPr>
              <a:t>até</a:t>
            </a:r>
            <a:r>
              <a:rPr lang="fr-FR" sz="1100" dirty="0">
                <a:sym typeface="Wingdings" pitchFamily="2" charset="2"/>
              </a:rPr>
              <a:t> </a:t>
            </a:r>
            <a:r>
              <a:rPr lang="fr-FR" sz="1100" dirty="0" err="1">
                <a:sym typeface="Wingdings" pitchFamily="2" charset="2"/>
              </a:rPr>
              <a:t>tal</a:t>
            </a:r>
            <a:r>
              <a:rPr lang="fr-FR" sz="1100" dirty="0">
                <a:sym typeface="Wingdings" pitchFamily="2" charset="2"/>
              </a:rPr>
              <a:t> </a:t>
            </a:r>
            <a:r>
              <a:rPr lang="fr-FR" sz="1100" dirty="0" err="1">
                <a:sym typeface="Wingdings" pitchFamily="2" charset="2"/>
              </a:rPr>
              <a:t>numero</a:t>
            </a:r>
            <a:endParaRPr lang="fr-FR" sz="1100" dirty="0">
              <a:sym typeface="Wingdings" pitchFamily="2" charset="2"/>
            </a:endParaRPr>
          </a:p>
          <a:p>
            <a:r>
              <a:rPr lang="fr-FR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Ex: </a:t>
            </a:r>
            <a:r>
              <a:rPr lang="fr-FR" sz="11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seq</a:t>
            </a:r>
            <a:r>
              <a:rPr lang="fr-FR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(1,10, by=2)   </a:t>
            </a:r>
            <a:r>
              <a:rPr lang="fr-FR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1 3 5 7 9</a:t>
            </a:r>
          </a:p>
          <a:p>
            <a:r>
              <a:rPr lang="pt-BR" dirty="0">
                <a:solidFill>
                  <a:srgbClr val="FF0000"/>
                </a:solidFill>
              </a:rPr>
              <a:t>Função rep() </a:t>
            </a:r>
            <a:r>
              <a:rPr lang="pt-BR" dirty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pt-BR" dirty="0"/>
              <a:t>Repetição de valores</a:t>
            </a:r>
            <a:r>
              <a:rPr lang="fr-FR" sz="1100" dirty="0"/>
              <a:t> </a:t>
            </a:r>
          </a:p>
          <a:p>
            <a:r>
              <a:rPr lang="fr-FR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Ex: </a:t>
            </a:r>
            <a:r>
              <a:rPr lang="pt-BR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rep(1:4, times = 2) </a:t>
            </a:r>
            <a:r>
              <a:rPr lang="pt-BR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1, 2, 3, 4, 1, 2, 3, 4</a:t>
            </a:r>
            <a:endParaRPr lang="pt-BR" sz="11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11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Podemos aplicar funções oriundas do </a:t>
            </a:r>
            <a:r>
              <a:rPr lang="pt-BR" sz="11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tydiverse</a:t>
            </a:r>
            <a:r>
              <a:rPr lang="pt-BR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1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tambem</a:t>
            </a:r>
            <a:r>
              <a:rPr lang="pt-BR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pt-BR" dirty="0" err="1">
                <a:solidFill>
                  <a:srgbClr val="FF0000"/>
                </a:solidFill>
              </a:rPr>
              <a:t>read_csv</a:t>
            </a:r>
            <a:r>
              <a:rPr lang="pt-BR" dirty="0">
                <a:solidFill>
                  <a:srgbClr val="FF0000"/>
                </a:solidFill>
              </a:rPr>
              <a:t>() (</a:t>
            </a:r>
            <a:r>
              <a:rPr lang="pt-BR" dirty="0" err="1">
                <a:solidFill>
                  <a:srgbClr val="FF0000"/>
                </a:solidFill>
              </a:rPr>
              <a:t>readr</a:t>
            </a:r>
            <a:r>
              <a:rPr lang="pt-BR" dirty="0">
                <a:solidFill>
                  <a:srgbClr val="FF0000"/>
                </a:solidFill>
              </a:rPr>
              <a:t>)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Importação rápida.</a:t>
            </a: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 err="1">
                <a:solidFill>
                  <a:srgbClr val="FF0000"/>
                </a:solidFill>
              </a:rPr>
              <a:t>select</a:t>
            </a:r>
            <a:r>
              <a:rPr lang="pt-BR" dirty="0">
                <a:solidFill>
                  <a:srgbClr val="FF0000"/>
                </a:solidFill>
              </a:rPr>
              <a:t>(), </a:t>
            </a:r>
            <a:r>
              <a:rPr lang="pt-BR" dirty="0" err="1">
                <a:solidFill>
                  <a:srgbClr val="FF0000"/>
                </a:solidFill>
              </a:rPr>
              <a:t>filter</a:t>
            </a:r>
            <a:r>
              <a:rPr lang="pt-BR" dirty="0">
                <a:solidFill>
                  <a:srgbClr val="FF0000"/>
                </a:solidFill>
              </a:rPr>
              <a:t>(), </a:t>
            </a:r>
            <a:r>
              <a:rPr lang="pt-BR" dirty="0" err="1">
                <a:solidFill>
                  <a:srgbClr val="FF0000"/>
                </a:solidFill>
              </a:rPr>
              <a:t>arrange</a:t>
            </a:r>
            <a:r>
              <a:rPr lang="pt-BR" dirty="0">
                <a:solidFill>
                  <a:srgbClr val="FF0000"/>
                </a:solidFill>
              </a:rPr>
              <a:t>()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Selecionar/filtrar/ordenar.</a:t>
            </a: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 err="1">
                <a:solidFill>
                  <a:srgbClr val="FF0000"/>
                </a:solidFill>
              </a:rPr>
              <a:t>mutate</a:t>
            </a:r>
            <a:r>
              <a:rPr lang="pt-BR" dirty="0">
                <a:solidFill>
                  <a:srgbClr val="FF0000"/>
                </a:solidFill>
              </a:rPr>
              <a:t>()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Criar novas variáveis.</a:t>
            </a: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 err="1">
                <a:solidFill>
                  <a:srgbClr val="FF0000"/>
                </a:solidFill>
              </a:rPr>
              <a:t>summarise</a:t>
            </a:r>
            <a:r>
              <a:rPr lang="pt-BR" dirty="0">
                <a:solidFill>
                  <a:srgbClr val="FF0000"/>
                </a:solidFill>
              </a:rPr>
              <a:t>()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Estatísticas resumidas.</a:t>
            </a: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1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a &lt;- ggplot(economics, aes(date, unemploy))…"/>
          <p:cNvSpPr txBox="1"/>
          <p:nvPr/>
        </p:nvSpPr>
        <p:spPr>
          <a:xfrm>
            <a:off x="3696343" y="1278541"/>
            <a:ext cx="3630568" cy="4181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pt-B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na.rm</a:t>
            </a:r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TRUE) </a:t>
            </a:r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pt-B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Média, removendo os NA.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pt-B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Mediana.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pt-B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</a:t>
            </a:r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Desvio Padrão.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pt-BR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var(</a:t>
            </a:r>
            <a:r>
              <a:rPr lang="pt-BR" sz="1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Variância.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pt-BR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min(</a:t>
            </a:r>
            <a:r>
              <a:rPr lang="pt-BR" sz="1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range(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Mínimo, Máximo e Amplitude.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quantile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(0.25, 0.75)): Percentis/Quartis.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pt-BR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IQR()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Intervalo interquartil</a:t>
            </a:r>
          </a:p>
          <a:p>
            <a:pPr>
              <a:lnSpc>
                <a:spcPct val="110000"/>
              </a:lnSpc>
            </a:pPr>
            <a:r>
              <a:rPr lang="pt-BR" sz="1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</a:t>
            </a:r>
            <a:r>
              <a:rPr lang="pt-BR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histograma para avaliar a normalidade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pt-BR" sz="1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pt-BR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Resumo completo</a:t>
            </a:r>
          </a:p>
          <a:p>
            <a:pPr>
              <a:lnSpc>
                <a:spcPct val="110000"/>
              </a:lnSpc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fr-FR" sz="1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Tapply</a:t>
            </a:r>
            <a:r>
              <a:rPr lang="fr-FR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função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um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vetor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dividido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grupos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</a:t>
            </a:r>
          </a:p>
          <a:p>
            <a:pPr>
              <a:lnSpc>
                <a:spcPct val="11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notas &lt;- c(7, 8, 5, 9, 6, 7)</a:t>
            </a:r>
          </a:p>
          <a:p>
            <a:pPr>
              <a:lnSpc>
                <a:spcPct val="110000"/>
              </a:lnSpc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turma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&lt;- c("A", "A", "B", "B", "A", "B")</a:t>
            </a:r>
          </a:p>
          <a:p>
            <a:pPr>
              <a:lnSpc>
                <a:spcPct val="110000"/>
              </a:lnSpc>
            </a:pPr>
            <a:r>
              <a:rPr lang="fr-FR" sz="1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tapply</a:t>
            </a:r>
            <a:r>
              <a:rPr lang="fr-FR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 = notas, INDEX = </a:t>
            </a:r>
            <a:r>
              <a:rPr lang="fr-FR" sz="1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turma</a:t>
            </a:r>
            <a:r>
              <a:rPr lang="fr-FR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FUN = </a:t>
            </a:r>
            <a:r>
              <a:rPr lang="fr-FR" sz="1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fr-FR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10000"/>
              </a:lnSpc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Resultado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--&gt;  A   B </a:t>
            </a:r>
          </a:p>
          <a:p>
            <a:pPr>
              <a:lnSpc>
                <a:spcPct val="11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7.0 7.0</a:t>
            </a:r>
          </a:p>
          <a:p>
            <a:pPr>
              <a:lnSpc>
                <a:spcPct val="11000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</a:t>
            </a:r>
            <a:r>
              <a:rPr lang="pt-BR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pt-BR" dirty="0">
                <a:sym typeface="Wingdings" pitchFamily="2" charset="2"/>
              </a:rPr>
              <a:t> R</a:t>
            </a:r>
            <a:r>
              <a:rPr lang="pt-BR" dirty="0"/>
              <a:t>etorna um data frame.</a:t>
            </a:r>
          </a:p>
          <a:p>
            <a:pPr>
              <a:lnSpc>
                <a:spcPct val="11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</a:t>
            </a:r>
            <a:endParaRPr lang="fr-FR" sz="1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dados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&lt;-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data.frame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altura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c(1.70, 1.65, 1.80, 1.75, 1.60),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sexo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c("F", "F", "M", "M", "F")</a:t>
            </a:r>
            <a:endParaRPr lang="fr-FR" dirty="0"/>
          </a:p>
          <a:p>
            <a:r>
              <a:rPr lang="pt-BR" sz="17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</a:t>
            </a:r>
            <a:r>
              <a:rPr lang="pt-BR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(altura ~ sexo, data = dados, FUN = </a:t>
            </a:r>
            <a:r>
              <a:rPr lang="pt-BR" sz="17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pt-BR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fr-FR" dirty="0"/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Resultado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  </a:t>
            </a:r>
            <a:r>
              <a:rPr lang="fr-FR" dirty="0" err="1"/>
              <a:t>sexo</a:t>
            </a:r>
            <a:r>
              <a:rPr lang="fr-FR" dirty="0"/>
              <a:t> </a:t>
            </a:r>
            <a:r>
              <a:rPr lang="fr-FR" dirty="0" err="1"/>
              <a:t>altura</a:t>
            </a:r>
            <a:endParaRPr lang="fr-FR" dirty="0"/>
          </a:p>
          <a:p>
            <a:r>
              <a:rPr lang="fr-FR" dirty="0"/>
              <a:t>                    1    F   1.65</a:t>
            </a:r>
          </a:p>
          <a:p>
            <a:r>
              <a:rPr lang="fr-FR" dirty="0"/>
              <a:t>                    2    M   1.775</a:t>
            </a:r>
          </a:p>
          <a:p>
            <a:pPr>
              <a:lnSpc>
                <a:spcPct val="11000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endParaRPr sz="900" dirty="0"/>
          </a:p>
        </p:txBody>
      </p:sp>
      <p:sp>
        <p:nvSpPr>
          <p:cNvPr id="641" name="Rectángulo"/>
          <p:cNvSpPr/>
          <p:nvPr/>
        </p:nvSpPr>
        <p:spPr>
          <a:xfrm>
            <a:off x="7191191" y="753507"/>
            <a:ext cx="4216615" cy="595628"/>
          </a:xfrm>
          <a:prstGeom prst="rect">
            <a:avLst/>
          </a:prstGeom>
          <a:gradFill>
            <a:gsLst>
              <a:gs pos="0">
                <a:srgbClr val="FFFFFF">
                  <a:alpha val="32629"/>
                </a:srgbClr>
              </a:gs>
              <a:gs pos="100000">
                <a:srgbClr val="75D142">
                  <a:alpha val="32629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1" name="Use a geom function to represent data points, use the geom’s aesthetic properties to represent variables.  Each function returns a layer.">
            <a:extLst>
              <a:ext uri="{FF2B5EF4-FFF2-40B4-BE49-F238E27FC236}">
                <a16:creationId xmlns:a16="http://schemas.microsoft.com/office/drawing/2014/main" id="{7FC40BAF-E214-8B9D-4C08-C6B9C1732C38}"/>
              </a:ext>
            </a:extLst>
          </p:cNvPr>
          <p:cNvSpPr txBox="1"/>
          <p:nvPr/>
        </p:nvSpPr>
        <p:spPr>
          <a:xfrm>
            <a:off x="109663" y="1846125"/>
            <a:ext cx="3324695" cy="255519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2700" tIns="12700" rIns="12700" bIns="12700">
            <a:spAutoFit/>
          </a:bodyPr>
          <a:lstStyle/>
          <a:p>
            <a:pPr lvl="1" indent="0" algn="ctr">
              <a:lnSpc>
                <a:spcPct val="80000"/>
              </a:lnSpc>
              <a:spcBef>
                <a:spcPts val="0"/>
              </a:spcBef>
              <a:defRPr sz="1100" b="0">
                <a:solidFill>
                  <a:srgbClr val="3DA642"/>
                </a:solidFill>
              </a:defRPr>
            </a:pPr>
            <a:r>
              <a:rPr lang="fr-FR" sz="1800" dirty="0" err="1">
                <a:solidFill>
                  <a:schemeClr val="tx1">
                    <a:lumMod val="50000"/>
                  </a:schemeClr>
                </a:solidFill>
                <a:highlight>
                  <a:srgbClr val="808080"/>
                </a:highlight>
              </a:rPr>
              <a:t>Usando</a:t>
            </a:r>
            <a:r>
              <a:rPr lang="fr-FR" sz="1800" dirty="0">
                <a:solidFill>
                  <a:schemeClr val="tx1">
                    <a:lumMod val="50000"/>
                  </a:schemeClr>
                </a:solidFill>
                <a:highlight>
                  <a:srgbClr val="808080"/>
                </a:highlight>
              </a:rPr>
              <a:t> pacotes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2FB5F01-FE83-FEAE-7F8C-21F4ABE86FD4}"/>
              </a:ext>
            </a:extLst>
          </p:cNvPr>
          <p:cNvSpPr txBox="1"/>
          <p:nvPr/>
        </p:nvSpPr>
        <p:spPr>
          <a:xfrm>
            <a:off x="3612749" y="5501177"/>
            <a:ext cx="3631187" cy="4935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3DA642"/>
                </a:solidFill>
              </a:defRPr>
            </a:pPr>
            <a:r>
              <a:rPr lang="pt-BR" sz="1600" b="0" dirty="0">
                <a:solidFill>
                  <a:srgbClr val="3DA642"/>
                </a:solidFill>
              </a:rPr>
              <a:t>TESTES DE HIPÓTESES DADOS PARAMETRICOS</a:t>
            </a:r>
            <a:endParaRPr lang="fr-FR" sz="1600" b="0" dirty="0">
              <a:solidFill>
                <a:srgbClr val="3DA642"/>
              </a:solidFill>
            </a:endParaRPr>
          </a:p>
        </p:txBody>
      </p:sp>
      <p:sp>
        <p:nvSpPr>
          <p:cNvPr id="14" name="Rectángulo">
            <a:extLst>
              <a:ext uri="{FF2B5EF4-FFF2-40B4-BE49-F238E27FC236}">
                <a16:creationId xmlns:a16="http://schemas.microsoft.com/office/drawing/2014/main" id="{3379B985-AAD0-CE6B-3FC2-876E4D540CB5}"/>
              </a:ext>
            </a:extLst>
          </p:cNvPr>
          <p:cNvSpPr/>
          <p:nvPr/>
        </p:nvSpPr>
        <p:spPr>
          <a:xfrm>
            <a:off x="3666017" y="5412144"/>
            <a:ext cx="3657124" cy="3171858"/>
          </a:xfrm>
          <a:prstGeom prst="rect">
            <a:avLst/>
          </a:prstGeom>
          <a:gradFill>
            <a:gsLst>
              <a:gs pos="0">
                <a:srgbClr val="FFFFFF">
                  <a:alpha val="32629"/>
                </a:srgbClr>
              </a:gs>
              <a:gs pos="100000">
                <a:srgbClr val="75D142">
                  <a:alpha val="32629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54570" tIns="54570" rIns="54570" bIns="54570" anchor="ctr"/>
          <a:lstStyle/>
          <a:p>
            <a:r>
              <a:rPr lang="pt-BR" dirty="0"/>
              <a:t>- Teste </a:t>
            </a:r>
            <a:r>
              <a:rPr lang="pt-BR" dirty="0" err="1"/>
              <a:t>t</a:t>
            </a:r>
            <a:r>
              <a:rPr lang="pt-BR" dirty="0"/>
              <a:t>: </a:t>
            </a:r>
            <a:r>
              <a:rPr lang="pt-BR" dirty="0" err="1">
                <a:solidFill>
                  <a:srgbClr val="FF0000"/>
                </a:solidFill>
              </a:rPr>
              <a:t>t.test</a:t>
            </a:r>
            <a:r>
              <a:rPr lang="pt-BR" dirty="0">
                <a:solidFill>
                  <a:srgbClr val="FF0000"/>
                </a:solidFill>
              </a:rPr>
              <a:t>()</a:t>
            </a:r>
          </a:p>
          <a:p>
            <a:r>
              <a:rPr lang="pt-BR" dirty="0" err="1">
                <a:solidFill>
                  <a:srgbClr val="FF0000"/>
                </a:solidFill>
              </a:rPr>
              <a:t>t.test</a:t>
            </a:r>
            <a:r>
              <a:rPr lang="pt-BR" dirty="0">
                <a:solidFill>
                  <a:srgbClr val="FF0000"/>
                </a:solidFill>
              </a:rPr>
              <a:t>(valor ~ grupo, data = dados) </a:t>
            </a:r>
            <a:r>
              <a:rPr lang="pt-BR" dirty="0"/>
              <a:t># Amostras independentes</a:t>
            </a:r>
            <a:endParaRPr lang="fr-FR" dirty="0"/>
          </a:p>
          <a:p>
            <a:r>
              <a:rPr lang="pt-BR" dirty="0" err="1">
                <a:solidFill>
                  <a:srgbClr val="FF0000"/>
                </a:solidFill>
              </a:rPr>
              <a:t>t.test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x</a:t>
            </a:r>
            <a:r>
              <a:rPr lang="pt-BR" dirty="0">
                <a:solidFill>
                  <a:srgbClr val="FF0000"/>
                </a:solidFill>
              </a:rPr>
              <a:t>, </a:t>
            </a:r>
            <a:r>
              <a:rPr lang="pt-BR" dirty="0" err="1">
                <a:solidFill>
                  <a:srgbClr val="FF0000"/>
                </a:solidFill>
              </a:rPr>
              <a:t>y</a:t>
            </a:r>
            <a:r>
              <a:rPr lang="pt-BR" dirty="0">
                <a:solidFill>
                  <a:srgbClr val="FF0000"/>
                </a:solidFill>
              </a:rPr>
              <a:t>, </a:t>
            </a:r>
            <a:r>
              <a:rPr lang="pt-BR" dirty="0" err="1">
                <a:solidFill>
                  <a:srgbClr val="FF0000"/>
                </a:solidFill>
              </a:rPr>
              <a:t>paired</a:t>
            </a:r>
            <a:r>
              <a:rPr lang="pt-BR" dirty="0">
                <a:solidFill>
                  <a:srgbClr val="FF0000"/>
                </a:solidFill>
              </a:rPr>
              <a:t> = TRUE)         </a:t>
            </a:r>
            <a:r>
              <a:rPr lang="pt-BR" dirty="0"/>
              <a:t># Amostras pareadas</a:t>
            </a:r>
          </a:p>
          <a:p>
            <a:r>
              <a:rPr lang="pt-BR" dirty="0"/>
              <a:t>- ANOVA: </a:t>
            </a:r>
            <a:r>
              <a:rPr lang="pt-BR" dirty="0" err="1">
                <a:solidFill>
                  <a:srgbClr val="FF0000"/>
                </a:solidFill>
              </a:rPr>
              <a:t>aov</a:t>
            </a:r>
            <a:r>
              <a:rPr lang="pt-BR" dirty="0">
                <a:solidFill>
                  <a:srgbClr val="FF0000"/>
                </a:solidFill>
              </a:rPr>
              <a:t>()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 err="1">
                <a:solidFill>
                  <a:srgbClr val="FF0000"/>
                </a:solidFill>
              </a:rPr>
              <a:t>aov</a:t>
            </a:r>
            <a:r>
              <a:rPr lang="fr-FR" dirty="0">
                <a:solidFill>
                  <a:srgbClr val="FF0000"/>
                </a:solidFill>
              </a:rPr>
              <a:t>(</a:t>
            </a:r>
            <a:r>
              <a:rPr lang="fr-FR" dirty="0" err="1">
                <a:solidFill>
                  <a:srgbClr val="FF0000"/>
                </a:solidFill>
              </a:rPr>
              <a:t>valor</a:t>
            </a:r>
            <a:r>
              <a:rPr lang="fr-FR" dirty="0">
                <a:solidFill>
                  <a:srgbClr val="FF0000"/>
                </a:solidFill>
              </a:rPr>
              <a:t> ~ </a:t>
            </a:r>
            <a:r>
              <a:rPr lang="fr-FR" dirty="0" err="1">
                <a:solidFill>
                  <a:srgbClr val="FF0000"/>
                </a:solidFill>
              </a:rPr>
              <a:t>grupo</a:t>
            </a:r>
            <a:r>
              <a:rPr lang="fr-FR" dirty="0">
                <a:solidFill>
                  <a:srgbClr val="FF0000"/>
                </a:solidFill>
              </a:rPr>
              <a:t>, data = </a:t>
            </a:r>
            <a:r>
              <a:rPr lang="fr-FR" dirty="0" err="1">
                <a:solidFill>
                  <a:srgbClr val="FF0000"/>
                </a:solidFill>
              </a:rPr>
              <a:t>dados</a:t>
            </a:r>
            <a:r>
              <a:rPr lang="fr-FR" dirty="0">
                <a:solidFill>
                  <a:srgbClr val="FF0000"/>
                </a:solidFill>
              </a:rPr>
              <a:t>)  </a:t>
            </a:r>
          </a:p>
          <a:p>
            <a:r>
              <a:rPr lang="fr-FR" dirty="0"/>
              <a:t> # ≥ 3 </a:t>
            </a:r>
            <a:r>
              <a:rPr lang="fr-FR" dirty="0" err="1"/>
              <a:t>grupos</a:t>
            </a:r>
            <a:r>
              <a:rPr lang="fr-FR" dirty="0"/>
              <a:t> </a:t>
            </a:r>
            <a:r>
              <a:rPr lang="fr-FR" dirty="0" err="1"/>
              <a:t>independentes</a:t>
            </a:r>
            <a:endParaRPr lang="fr-FR" dirty="0"/>
          </a:p>
          <a:p>
            <a:r>
              <a:rPr lang="fr-FR" dirty="0" err="1">
                <a:solidFill>
                  <a:srgbClr val="FF0000"/>
                </a:solidFill>
              </a:rPr>
              <a:t>aov</a:t>
            </a:r>
            <a:r>
              <a:rPr lang="fr-FR" dirty="0">
                <a:solidFill>
                  <a:srgbClr val="FF0000"/>
                </a:solidFill>
              </a:rPr>
              <a:t>(</a:t>
            </a:r>
            <a:r>
              <a:rPr lang="fr-FR" dirty="0" err="1">
                <a:solidFill>
                  <a:srgbClr val="FF0000"/>
                </a:solidFill>
              </a:rPr>
              <a:t>valor</a:t>
            </a:r>
            <a:r>
              <a:rPr lang="fr-FR" dirty="0">
                <a:solidFill>
                  <a:srgbClr val="FF0000"/>
                </a:solidFill>
              </a:rPr>
              <a:t> ~ </a:t>
            </a:r>
            <a:r>
              <a:rPr lang="fr-FR" dirty="0" err="1">
                <a:solidFill>
                  <a:srgbClr val="FF0000"/>
                </a:solidFill>
              </a:rPr>
              <a:t>grupo</a:t>
            </a:r>
            <a:r>
              <a:rPr lang="fr-FR" dirty="0">
                <a:solidFill>
                  <a:srgbClr val="FF0000"/>
                </a:solidFill>
              </a:rPr>
              <a:t> + </a:t>
            </a:r>
            <a:r>
              <a:rPr lang="fr-FR" dirty="0" err="1">
                <a:solidFill>
                  <a:srgbClr val="FF0000"/>
                </a:solidFill>
              </a:rPr>
              <a:t>Error</a:t>
            </a:r>
            <a:r>
              <a:rPr lang="fr-FR" dirty="0">
                <a:solidFill>
                  <a:srgbClr val="FF0000"/>
                </a:solidFill>
              </a:rPr>
              <a:t>(</a:t>
            </a:r>
            <a:r>
              <a:rPr lang="fr-FR" dirty="0" err="1">
                <a:solidFill>
                  <a:srgbClr val="FF0000"/>
                </a:solidFill>
              </a:rPr>
              <a:t>sujeito</a:t>
            </a:r>
            <a:r>
              <a:rPr lang="fr-FR" dirty="0">
                <a:solidFill>
                  <a:srgbClr val="FF0000"/>
                </a:solidFill>
              </a:rPr>
              <a:t>), data = </a:t>
            </a:r>
            <a:r>
              <a:rPr lang="fr-FR" dirty="0" err="1">
                <a:solidFill>
                  <a:srgbClr val="FF0000"/>
                </a:solidFill>
              </a:rPr>
              <a:t>dados</a:t>
            </a:r>
            <a:r>
              <a:rPr lang="fr-FR" dirty="0">
                <a:solidFill>
                  <a:srgbClr val="FF0000"/>
                </a:solidFill>
              </a:rPr>
              <a:t>)  </a:t>
            </a:r>
            <a:r>
              <a:rPr lang="fr-FR" dirty="0"/>
              <a:t># </a:t>
            </a:r>
            <a:r>
              <a:rPr lang="fr-FR" dirty="0" err="1"/>
              <a:t>Medidas</a:t>
            </a:r>
            <a:r>
              <a:rPr lang="fr-FR" dirty="0"/>
              <a:t> </a:t>
            </a:r>
            <a:r>
              <a:rPr lang="fr-FR" dirty="0" err="1"/>
              <a:t>repetidas</a:t>
            </a:r>
            <a:r>
              <a:rPr lang="fr-FR" dirty="0"/>
              <a:t> (</a:t>
            </a:r>
            <a:r>
              <a:rPr lang="fr-FR" dirty="0" err="1"/>
              <a:t>pareado</a:t>
            </a:r>
            <a:r>
              <a:rPr lang="fr-FR" dirty="0"/>
              <a:t>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0D7F065-B956-B096-0DA1-7073D749660A}"/>
              </a:ext>
            </a:extLst>
          </p:cNvPr>
          <p:cNvSpPr txBox="1"/>
          <p:nvPr/>
        </p:nvSpPr>
        <p:spPr>
          <a:xfrm>
            <a:off x="7333498" y="806703"/>
            <a:ext cx="3631187" cy="3477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3DA642"/>
                </a:solidFill>
              </a:defRPr>
            </a:pPr>
            <a:r>
              <a:rPr lang="fr-FR" sz="2000" b="0" dirty="0">
                <a:solidFill>
                  <a:srgbClr val="3DA642"/>
                </a:solidFill>
              </a:rPr>
              <a:t>CORRELACOES</a:t>
            </a:r>
          </a:p>
        </p:txBody>
      </p:sp>
      <p:sp>
        <p:nvSpPr>
          <p:cNvPr id="18" name="a &lt;- ggplot(economics, aes(date, unemploy))…">
            <a:extLst>
              <a:ext uri="{FF2B5EF4-FFF2-40B4-BE49-F238E27FC236}">
                <a16:creationId xmlns:a16="http://schemas.microsoft.com/office/drawing/2014/main" id="{261FDFE5-1559-4713-917D-42B42E51A88C}"/>
              </a:ext>
            </a:extLst>
          </p:cNvPr>
          <p:cNvSpPr txBox="1"/>
          <p:nvPr/>
        </p:nvSpPr>
        <p:spPr>
          <a:xfrm>
            <a:off x="7337266" y="1236249"/>
            <a:ext cx="3831921" cy="4181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11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Sintaxe :      </a:t>
            </a:r>
            <a:r>
              <a:rPr lang="pt-B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cor(</a:t>
            </a:r>
            <a:r>
              <a:rPr lang="pt-B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pt-B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pt-B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</a:t>
            </a:r>
            <a:r>
              <a:rPr lang="pt-B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>
              <a:lnSpc>
                <a:spcPct val="11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Variaveis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numericas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>
              <a:lnSpc>
                <a:spcPct val="11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Method 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tipo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correlaçao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>
              <a:lnSpc>
                <a:spcPct val="11000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endParaRPr sz="900" dirty="0"/>
          </a:p>
        </p:txBody>
      </p:sp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3927D582-6B89-272D-6605-630D7B967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943374"/>
              </p:ext>
            </p:extLst>
          </p:nvPr>
        </p:nvGraphicFramePr>
        <p:xfrm>
          <a:off x="7048084" y="1928535"/>
          <a:ext cx="4514350" cy="1005840"/>
        </p:xfrm>
        <a:graphic>
          <a:graphicData uri="http://schemas.openxmlformats.org/drawingml/2006/table">
            <a:tbl>
              <a:tblPr/>
              <a:tblGrid>
                <a:gridCol w="902870">
                  <a:extLst>
                    <a:ext uri="{9D8B030D-6E8A-4147-A177-3AD203B41FA5}">
                      <a16:colId xmlns:a16="http://schemas.microsoft.com/office/drawing/2014/main" val="226975006"/>
                    </a:ext>
                  </a:extLst>
                </a:gridCol>
                <a:gridCol w="902870">
                  <a:extLst>
                    <a:ext uri="{9D8B030D-6E8A-4147-A177-3AD203B41FA5}">
                      <a16:colId xmlns:a16="http://schemas.microsoft.com/office/drawing/2014/main" val="3257835781"/>
                    </a:ext>
                  </a:extLst>
                </a:gridCol>
                <a:gridCol w="902870">
                  <a:extLst>
                    <a:ext uri="{9D8B030D-6E8A-4147-A177-3AD203B41FA5}">
                      <a16:colId xmlns:a16="http://schemas.microsoft.com/office/drawing/2014/main" val="3555516916"/>
                    </a:ext>
                  </a:extLst>
                </a:gridCol>
                <a:gridCol w="902870">
                  <a:extLst>
                    <a:ext uri="{9D8B030D-6E8A-4147-A177-3AD203B41FA5}">
                      <a16:colId xmlns:a16="http://schemas.microsoft.com/office/drawing/2014/main" val="4232378444"/>
                    </a:ext>
                  </a:extLst>
                </a:gridCol>
                <a:gridCol w="902870">
                  <a:extLst>
                    <a:ext uri="{9D8B030D-6E8A-4147-A177-3AD203B41FA5}">
                      <a16:colId xmlns:a16="http://schemas.microsoft.com/office/drawing/2014/main" val="40530147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Método</a:t>
                      </a:r>
                      <a:endParaRPr lang="fr-FR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 de </a:t>
                      </a:r>
                      <a:r>
                        <a:rPr lang="fr-FR" sz="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relação</a:t>
                      </a:r>
                      <a:endParaRPr lang="fr-FR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Paramétrico?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Quando usar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99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Pearson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Valores</a:t>
                      </a:r>
                      <a:endParaRPr lang="fr-FR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Dados normais, relação linear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75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Spearman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Monotônica</a:t>
                      </a:r>
                      <a:endParaRPr lang="fr-FR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Postos</a:t>
                      </a:r>
                      <a:endParaRPr lang="fr-FR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</a:t>
                      </a:r>
                      <a:endParaRPr lang="fr-FR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Dados</a:t>
                      </a:r>
                      <a:r>
                        <a:rPr lang="fr-FR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</a:t>
                      </a:r>
                      <a:r>
                        <a:rPr lang="fr-FR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normais, </a:t>
                      </a:r>
                      <a:r>
                        <a:rPr lang="fr-FR" sz="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outliers</a:t>
                      </a:r>
                      <a:endParaRPr lang="fr-FR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089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Kendall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Monotônica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Postos</a:t>
                      </a:r>
                      <a:endParaRPr lang="fr-FR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</a:t>
                      </a:r>
                      <a:endParaRPr lang="fr-FR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Amostras</a:t>
                      </a:r>
                      <a:r>
                        <a:rPr lang="fr-FR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pequenas</a:t>
                      </a:r>
                      <a:r>
                        <a:rPr lang="fr-FR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fr-FR" sz="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empates</a:t>
                      </a:r>
                      <a:endParaRPr lang="fr-FR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581154"/>
                  </a:ext>
                </a:extLst>
              </a:tr>
            </a:tbl>
          </a:graphicData>
        </a:graphic>
      </p:graphicFrame>
      <p:sp>
        <p:nvSpPr>
          <p:cNvPr id="22" name="Rectángulo">
            <a:extLst>
              <a:ext uri="{FF2B5EF4-FFF2-40B4-BE49-F238E27FC236}">
                <a16:creationId xmlns:a16="http://schemas.microsoft.com/office/drawing/2014/main" id="{599054C2-8C9B-BC59-BC7B-9117BBE9229D}"/>
              </a:ext>
            </a:extLst>
          </p:cNvPr>
          <p:cNvSpPr/>
          <p:nvPr/>
        </p:nvSpPr>
        <p:spPr>
          <a:xfrm>
            <a:off x="0" y="7486411"/>
            <a:ext cx="3666017" cy="3171861"/>
          </a:xfrm>
          <a:prstGeom prst="rect">
            <a:avLst/>
          </a:prstGeom>
          <a:gradFill>
            <a:gsLst>
              <a:gs pos="0">
                <a:srgbClr val="FFFFFF">
                  <a:alpha val="32629"/>
                </a:srgbClr>
              </a:gs>
              <a:gs pos="100000">
                <a:srgbClr val="75D142">
                  <a:alpha val="32629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54570" tIns="54570" rIns="54570" bIns="54570" anchor="ctr"/>
          <a:lstStyle/>
          <a:p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038B95C-5235-C430-277C-F96E71471D61}"/>
              </a:ext>
            </a:extLst>
          </p:cNvPr>
          <p:cNvSpPr txBox="1"/>
          <p:nvPr/>
        </p:nvSpPr>
        <p:spPr>
          <a:xfrm>
            <a:off x="-14236" y="7528779"/>
            <a:ext cx="3631187" cy="25700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3DA642"/>
                </a:solidFill>
              </a:defRPr>
            </a:pPr>
            <a:r>
              <a:rPr lang="pt-BR" sz="1600" b="0" dirty="0">
                <a:solidFill>
                  <a:srgbClr val="3DA642"/>
                </a:solidFill>
              </a:rPr>
              <a:t>TESTES DE HIPÓTESES DADOS NÃO – PARAMETRICOS</a:t>
            </a:r>
          </a:p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3DA642"/>
                </a:solidFill>
              </a:defRPr>
            </a:pPr>
            <a:endParaRPr lang="pt-BR" sz="1600" b="0" dirty="0">
              <a:solidFill>
                <a:srgbClr val="3DA642"/>
              </a:solidFill>
            </a:endParaRPr>
          </a:p>
          <a:p>
            <a:r>
              <a:rPr lang="pt-BR" dirty="0"/>
              <a:t>- Teste Mann–Whitney: </a:t>
            </a:r>
            <a:r>
              <a:rPr lang="pt-BR" dirty="0" err="1">
                <a:solidFill>
                  <a:srgbClr val="FF0000"/>
                </a:solidFill>
              </a:rPr>
              <a:t>wilcox.test</a:t>
            </a:r>
            <a:r>
              <a:rPr lang="pt-BR" dirty="0">
                <a:solidFill>
                  <a:srgbClr val="FF0000"/>
                </a:solidFill>
              </a:rPr>
              <a:t>()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pt-BR" dirty="0"/>
              <a:t>- Teste </a:t>
            </a:r>
            <a:r>
              <a:rPr lang="pt-BR" dirty="0" err="1"/>
              <a:t>qui</a:t>
            </a:r>
            <a:r>
              <a:rPr lang="pt-BR" dirty="0"/>
              <a:t>-quadrado: </a:t>
            </a:r>
            <a:r>
              <a:rPr lang="pt-BR" dirty="0" err="1">
                <a:solidFill>
                  <a:srgbClr val="FF0000"/>
                </a:solidFill>
              </a:rPr>
              <a:t>chisq.test</a:t>
            </a:r>
            <a:r>
              <a:rPr lang="pt-BR" dirty="0">
                <a:solidFill>
                  <a:srgbClr val="FF0000"/>
                </a:solidFill>
              </a:rPr>
              <a:t>()</a:t>
            </a:r>
          </a:p>
          <a:p>
            <a:r>
              <a:rPr lang="pt-BR" dirty="0" err="1">
                <a:solidFill>
                  <a:srgbClr val="FF0000"/>
                </a:solidFill>
              </a:rPr>
              <a:t>chisq.test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tabela_contingencia</a:t>
            </a:r>
            <a:r>
              <a:rPr lang="pt-BR" dirty="0">
                <a:solidFill>
                  <a:srgbClr val="FF0000"/>
                </a:solidFill>
              </a:rPr>
              <a:t>)</a:t>
            </a:r>
            <a:endParaRPr lang="fr-FR" dirty="0">
              <a:solidFill>
                <a:srgbClr val="FF0000"/>
              </a:solidFill>
            </a:endParaRPr>
          </a:p>
          <a:p>
            <a:endParaRPr lang="fr-FR" dirty="0"/>
          </a:p>
          <a:p>
            <a:r>
              <a:rPr lang="pt-BR" dirty="0"/>
              <a:t>- Fisher exato: </a:t>
            </a:r>
            <a:r>
              <a:rPr lang="pt-BR" dirty="0" err="1">
                <a:solidFill>
                  <a:srgbClr val="FF0000"/>
                </a:solidFill>
              </a:rPr>
              <a:t>fisher.test</a:t>
            </a:r>
            <a:r>
              <a:rPr lang="pt-BR" dirty="0">
                <a:solidFill>
                  <a:srgbClr val="FF0000"/>
                </a:solidFill>
              </a:rPr>
              <a:t>()</a:t>
            </a:r>
          </a:p>
          <a:p>
            <a:r>
              <a:rPr lang="pt-BR" dirty="0" err="1">
                <a:solidFill>
                  <a:srgbClr val="FF0000"/>
                </a:solidFill>
              </a:rPr>
              <a:t>fisher.test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tabela_contingencia</a:t>
            </a:r>
            <a:r>
              <a:rPr lang="pt-BR" dirty="0">
                <a:solidFill>
                  <a:srgbClr val="FF0000"/>
                </a:solidFill>
              </a:rPr>
              <a:t>)</a:t>
            </a:r>
            <a:endParaRPr lang="fr-FR" dirty="0">
              <a:solidFill>
                <a:srgbClr val="FF0000"/>
              </a:solidFill>
            </a:endParaRPr>
          </a:p>
          <a:p>
            <a:endParaRPr lang="fr-FR" dirty="0"/>
          </a:p>
          <a:p>
            <a:r>
              <a:rPr lang="pt-BR" dirty="0"/>
              <a:t>- </a:t>
            </a:r>
            <a:r>
              <a:rPr lang="pt-BR" dirty="0" err="1"/>
              <a:t>Kruskal</a:t>
            </a:r>
            <a:r>
              <a:rPr lang="pt-BR" dirty="0"/>
              <a:t>–Wallis: </a:t>
            </a:r>
            <a:r>
              <a:rPr lang="pt-BR" dirty="0" err="1">
                <a:solidFill>
                  <a:srgbClr val="FF0000"/>
                </a:solidFill>
              </a:rPr>
              <a:t>kruskal.test</a:t>
            </a:r>
            <a:r>
              <a:rPr lang="pt-BR" dirty="0">
                <a:solidFill>
                  <a:srgbClr val="FF0000"/>
                </a:solidFill>
              </a:rPr>
              <a:t>()</a:t>
            </a:r>
            <a:endParaRPr lang="fr-FR" dirty="0">
              <a:solidFill>
                <a:srgbClr val="FF0000"/>
              </a:solidFill>
            </a:endParaRPr>
          </a:p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3DA642"/>
                </a:solidFill>
              </a:defRPr>
            </a:pPr>
            <a:endParaRPr lang="fr-FR" sz="1600" b="0" dirty="0">
              <a:solidFill>
                <a:srgbClr val="3DA642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6D31A20-B7C7-5698-791E-F03511B0B132}"/>
              </a:ext>
            </a:extLst>
          </p:cNvPr>
          <p:cNvSpPr txBox="1"/>
          <p:nvPr/>
        </p:nvSpPr>
        <p:spPr>
          <a:xfrm>
            <a:off x="7299724" y="2943802"/>
            <a:ext cx="3631187" cy="3477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3DA642"/>
                </a:solidFill>
              </a:defRPr>
            </a:pPr>
            <a:r>
              <a:rPr lang="fr-FR" sz="2000" b="0" dirty="0">
                <a:solidFill>
                  <a:srgbClr val="3DA642"/>
                </a:solidFill>
              </a:rPr>
              <a:t>REGRESSOES</a:t>
            </a:r>
          </a:p>
        </p:txBody>
      </p:sp>
      <p:sp>
        <p:nvSpPr>
          <p:cNvPr id="26" name="Rectángulo">
            <a:extLst>
              <a:ext uri="{FF2B5EF4-FFF2-40B4-BE49-F238E27FC236}">
                <a16:creationId xmlns:a16="http://schemas.microsoft.com/office/drawing/2014/main" id="{E51C2A4D-E181-8328-151F-781F45EF455F}"/>
              </a:ext>
            </a:extLst>
          </p:cNvPr>
          <p:cNvSpPr/>
          <p:nvPr/>
        </p:nvSpPr>
        <p:spPr>
          <a:xfrm>
            <a:off x="3662008" y="1186613"/>
            <a:ext cx="3657124" cy="4296150"/>
          </a:xfrm>
          <a:prstGeom prst="rect">
            <a:avLst/>
          </a:prstGeom>
          <a:solidFill>
            <a:srgbClr val="75D142">
              <a:alpha val="19796"/>
            </a:srgbClr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7" name="Rectángulo">
            <a:extLst>
              <a:ext uri="{FF2B5EF4-FFF2-40B4-BE49-F238E27FC236}">
                <a16:creationId xmlns:a16="http://schemas.microsoft.com/office/drawing/2014/main" id="{79C0ABD6-EC3D-2F5A-F1E6-0FE56155E21D}"/>
              </a:ext>
            </a:extLst>
          </p:cNvPr>
          <p:cNvSpPr/>
          <p:nvPr/>
        </p:nvSpPr>
        <p:spPr>
          <a:xfrm>
            <a:off x="7325522" y="2888318"/>
            <a:ext cx="4053098" cy="2553533"/>
          </a:xfrm>
          <a:prstGeom prst="rect">
            <a:avLst/>
          </a:prstGeom>
          <a:solidFill>
            <a:srgbClr val="75D142">
              <a:alpha val="19796"/>
            </a:srgbClr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r>
              <a:rPr lang="pt-BR" dirty="0"/>
              <a:t>Regressão Linear Simples/Múltipla:</a:t>
            </a:r>
            <a:endParaRPr lang="fr-FR" dirty="0"/>
          </a:p>
          <a:p>
            <a:r>
              <a:rPr lang="pt-BR" dirty="0">
                <a:solidFill>
                  <a:srgbClr val="FF0000"/>
                </a:solidFill>
              </a:rPr>
              <a:t>modelo &lt;- </a:t>
            </a:r>
            <a:r>
              <a:rPr lang="pt-BR" dirty="0" err="1">
                <a:solidFill>
                  <a:srgbClr val="FF0000"/>
                </a:solidFill>
              </a:rPr>
              <a:t>lm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y</a:t>
            </a:r>
            <a:r>
              <a:rPr lang="pt-BR" dirty="0">
                <a:solidFill>
                  <a:srgbClr val="FF0000"/>
                </a:solidFill>
              </a:rPr>
              <a:t> ~ x1 + x2, data = dados)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pt-BR" dirty="0" err="1">
                <a:solidFill>
                  <a:srgbClr val="FF0000"/>
                </a:solidFill>
              </a:rPr>
              <a:t>summary</a:t>
            </a:r>
            <a:r>
              <a:rPr lang="pt-BR" dirty="0">
                <a:solidFill>
                  <a:srgbClr val="FF0000"/>
                </a:solidFill>
              </a:rPr>
              <a:t>(modelo) </a:t>
            </a:r>
            <a:r>
              <a:rPr lang="pt-BR" dirty="0"/>
              <a:t># Ver coeficientes, </a:t>
            </a:r>
            <a:r>
              <a:rPr lang="pt-BR" dirty="0" err="1"/>
              <a:t>R</a:t>
            </a:r>
            <a:r>
              <a:rPr lang="pt-BR" dirty="0"/>
              <a:t>-quadrado e </a:t>
            </a:r>
            <a:r>
              <a:rPr lang="pt-BR" dirty="0" err="1"/>
              <a:t>p</a:t>
            </a:r>
            <a:r>
              <a:rPr lang="pt-BR" dirty="0"/>
              <a:t>-valor</a:t>
            </a:r>
          </a:p>
          <a:p>
            <a:endParaRPr lang="pt-BR" dirty="0"/>
          </a:p>
          <a:p>
            <a:r>
              <a:rPr lang="pt-BR" dirty="0"/>
              <a:t>Regressão Logística (Binária): Usada quando a resposta </a:t>
            </a:r>
            <a:r>
              <a:rPr lang="pt-BR" dirty="0" err="1"/>
              <a:t>Y</a:t>
            </a:r>
            <a:r>
              <a:rPr lang="pt-BR" dirty="0"/>
              <a:t> é 0 ou 1.</a:t>
            </a:r>
            <a:endParaRPr lang="fr-FR" dirty="0"/>
          </a:p>
          <a:p>
            <a:r>
              <a:rPr lang="pt-BR" dirty="0" err="1">
                <a:solidFill>
                  <a:srgbClr val="FF0000"/>
                </a:solidFill>
              </a:rPr>
              <a:t>modelo_log</a:t>
            </a:r>
            <a:r>
              <a:rPr lang="pt-BR" dirty="0">
                <a:solidFill>
                  <a:srgbClr val="FF0000"/>
                </a:solidFill>
              </a:rPr>
              <a:t> &lt;- </a:t>
            </a:r>
            <a:r>
              <a:rPr lang="pt-BR" dirty="0" err="1">
                <a:solidFill>
                  <a:srgbClr val="FF0000"/>
                </a:solidFill>
              </a:rPr>
              <a:t>glm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y</a:t>
            </a:r>
            <a:r>
              <a:rPr lang="pt-BR" dirty="0">
                <a:solidFill>
                  <a:srgbClr val="FF0000"/>
                </a:solidFill>
              </a:rPr>
              <a:t> ~ </a:t>
            </a:r>
            <a:r>
              <a:rPr lang="pt-BR" dirty="0" err="1">
                <a:solidFill>
                  <a:srgbClr val="FF0000"/>
                </a:solidFill>
              </a:rPr>
              <a:t>x</a:t>
            </a:r>
            <a:r>
              <a:rPr lang="pt-BR" dirty="0">
                <a:solidFill>
                  <a:srgbClr val="FF0000"/>
                </a:solidFill>
              </a:rPr>
              <a:t>, data = dados, </a:t>
            </a:r>
            <a:r>
              <a:rPr lang="pt-BR" dirty="0" err="1">
                <a:solidFill>
                  <a:srgbClr val="FF0000"/>
                </a:solidFill>
              </a:rPr>
              <a:t>family</a:t>
            </a:r>
            <a:r>
              <a:rPr lang="pt-BR" dirty="0">
                <a:solidFill>
                  <a:srgbClr val="FF0000"/>
                </a:solidFill>
              </a:rPr>
              <a:t> = binomial)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pt-BR" dirty="0" err="1">
                <a:solidFill>
                  <a:srgbClr val="FF0000"/>
                </a:solidFill>
              </a:rPr>
              <a:t>exp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coef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modelo_log</a:t>
            </a:r>
            <a:r>
              <a:rPr lang="pt-BR" dirty="0">
                <a:solidFill>
                  <a:srgbClr val="FF0000"/>
                </a:solidFill>
              </a:rPr>
              <a:t>)) </a:t>
            </a:r>
            <a:r>
              <a:rPr lang="pt-BR" dirty="0"/>
              <a:t># Para obter </a:t>
            </a:r>
            <a:r>
              <a:rPr lang="pt-BR" dirty="0" err="1"/>
              <a:t>Odds</a:t>
            </a:r>
            <a:r>
              <a:rPr lang="pt-BR" dirty="0"/>
              <a:t> </a:t>
            </a:r>
            <a:r>
              <a:rPr lang="pt-BR" dirty="0" err="1"/>
              <a:t>Ratios</a:t>
            </a:r>
            <a:endParaRPr lang="fr-FR" dirty="0"/>
          </a:p>
        </p:txBody>
      </p:sp>
      <p:sp>
        <p:nvSpPr>
          <p:cNvPr id="28" name="Rectángulo">
            <a:extLst>
              <a:ext uri="{FF2B5EF4-FFF2-40B4-BE49-F238E27FC236}">
                <a16:creationId xmlns:a16="http://schemas.microsoft.com/office/drawing/2014/main" id="{15855BF8-49E7-96D5-00C3-B1B3DE2E1DD4}"/>
              </a:ext>
            </a:extLst>
          </p:cNvPr>
          <p:cNvSpPr/>
          <p:nvPr/>
        </p:nvSpPr>
        <p:spPr>
          <a:xfrm>
            <a:off x="3659049" y="8006648"/>
            <a:ext cx="3661274" cy="2628425"/>
          </a:xfrm>
          <a:prstGeom prst="rect">
            <a:avLst/>
          </a:prstGeom>
          <a:solidFill>
            <a:srgbClr val="75D142">
              <a:alpha val="19796"/>
            </a:srgbClr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3DA642"/>
                </a:solidFill>
              </a:defRPr>
            </a:pPr>
            <a:r>
              <a:rPr lang="pt-BR" sz="2000" b="0" dirty="0">
                <a:solidFill>
                  <a:srgbClr val="3DA642"/>
                </a:solidFill>
              </a:rPr>
              <a:t>ANALISE DE SOBREVIDA</a:t>
            </a:r>
          </a:p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3DA642"/>
                </a:solidFill>
              </a:defRPr>
            </a:pPr>
            <a:endParaRPr lang="pt-BR" sz="2000" b="0" dirty="0">
              <a:solidFill>
                <a:srgbClr val="3DA642"/>
              </a:solidFill>
            </a:endParaRPr>
          </a:p>
          <a:p>
            <a:r>
              <a:rPr lang="pt-BR" dirty="0" err="1">
                <a:solidFill>
                  <a:srgbClr val="FF0000"/>
                </a:solidFill>
              </a:rPr>
              <a:t>survfit</a:t>
            </a:r>
            <a:r>
              <a:rPr lang="pt-BR" dirty="0">
                <a:solidFill>
                  <a:srgbClr val="FF0000"/>
                </a:solidFill>
              </a:rPr>
              <a:t>() </a:t>
            </a:r>
            <a:r>
              <a:rPr lang="pt-BR" dirty="0">
                <a:solidFill>
                  <a:schemeClr val="tx1"/>
                </a:solidFill>
              </a:rPr>
              <a:t>--&gt; </a:t>
            </a:r>
            <a:r>
              <a:rPr lang="pt-BR" dirty="0"/>
              <a:t>(pacote </a:t>
            </a:r>
            <a:r>
              <a:rPr lang="pt-BR" dirty="0" err="1"/>
              <a:t>survival</a:t>
            </a:r>
            <a:r>
              <a:rPr lang="pt-BR" dirty="0"/>
              <a:t>)</a:t>
            </a:r>
            <a:endParaRPr lang="fr-FR" dirty="0"/>
          </a:p>
          <a:p>
            <a:r>
              <a:rPr lang="pt-BR" dirty="0" err="1">
                <a:solidFill>
                  <a:srgbClr val="FF0000"/>
                </a:solidFill>
              </a:rPr>
              <a:t>coxph</a:t>
            </a:r>
            <a:r>
              <a:rPr lang="pt-BR" dirty="0">
                <a:solidFill>
                  <a:srgbClr val="FF0000"/>
                </a:solidFill>
              </a:rPr>
              <a:t>() </a:t>
            </a:r>
            <a:r>
              <a:rPr lang="pt-BR" dirty="0"/>
              <a:t>– Modelo de Cox</a:t>
            </a:r>
            <a:endParaRPr lang="fr-FR" dirty="0"/>
          </a:p>
          <a:p>
            <a:r>
              <a:rPr lang="pt-BR" dirty="0" err="1">
                <a:solidFill>
                  <a:srgbClr val="FF0000"/>
                </a:solidFill>
              </a:rPr>
              <a:t>ggsurvplot</a:t>
            </a:r>
            <a:r>
              <a:rPr lang="pt-BR" dirty="0">
                <a:solidFill>
                  <a:srgbClr val="FF0000"/>
                </a:solidFill>
              </a:rPr>
              <a:t>() </a:t>
            </a:r>
            <a:r>
              <a:rPr lang="pt-BR" dirty="0"/>
              <a:t>– Visualização (</a:t>
            </a:r>
            <a:r>
              <a:rPr lang="pt-BR" dirty="0" err="1"/>
              <a:t>survminer</a:t>
            </a:r>
            <a:r>
              <a:rPr lang="pt-BR" dirty="0"/>
              <a:t>)</a:t>
            </a:r>
            <a:endParaRPr lang="fr-F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0" name="Rectángulo">
            <a:extLst>
              <a:ext uri="{FF2B5EF4-FFF2-40B4-BE49-F238E27FC236}">
                <a16:creationId xmlns:a16="http://schemas.microsoft.com/office/drawing/2014/main" id="{5207B696-8BC5-CCD2-43AE-33D13992E218}"/>
              </a:ext>
            </a:extLst>
          </p:cNvPr>
          <p:cNvSpPr/>
          <p:nvPr/>
        </p:nvSpPr>
        <p:spPr>
          <a:xfrm>
            <a:off x="11038291" y="743751"/>
            <a:ext cx="2931709" cy="353977"/>
          </a:xfrm>
          <a:prstGeom prst="rect">
            <a:avLst/>
          </a:prstGeom>
          <a:gradFill>
            <a:gsLst>
              <a:gs pos="0">
                <a:srgbClr val="FFFFFF">
                  <a:alpha val="32629"/>
                </a:srgbClr>
              </a:gs>
              <a:gs pos="100000">
                <a:srgbClr val="75D142">
                  <a:alpha val="32629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endParaRPr lang="fr-FR" sz="1800" dirty="0"/>
          </a:p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endParaRPr lang="fr-FR" sz="1800" dirty="0"/>
          </a:p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endParaRPr lang="fr-FR" sz="1800" dirty="0"/>
          </a:p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endParaRPr lang="fr-FR" sz="1800" dirty="0"/>
          </a:p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endParaRPr lang="fr-FR" sz="1800" dirty="0"/>
          </a:p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fr-FR" sz="1700" b="0" dirty="0" err="1">
                <a:solidFill>
                  <a:srgbClr val="3DA642"/>
                </a:solidFill>
              </a:rPr>
              <a:t>VISUALIZACãO</a:t>
            </a:r>
            <a:r>
              <a:rPr lang="fr-FR" sz="1700" b="0" dirty="0">
                <a:solidFill>
                  <a:srgbClr val="3DA642"/>
                </a:solidFill>
              </a:rPr>
              <a:t> DE DADOS</a:t>
            </a:r>
          </a:p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endParaRPr lang="fr-FR" sz="1800" b="0" dirty="0">
              <a:solidFill>
                <a:srgbClr val="3DA642"/>
              </a:solidFill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endParaRPr lang="fr-FR" sz="1800" dirty="0"/>
          </a:p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endParaRPr lang="pt-BR" sz="1800" dirty="0"/>
          </a:p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endParaRPr sz="1800" dirty="0"/>
          </a:p>
        </p:txBody>
      </p:sp>
      <p:pic>
        <p:nvPicPr>
          <p:cNvPr id="31" name="image5.jpg">
            <a:extLst>
              <a:ext uri="{FF2B5EF4-FFF2-40B4-BE49-F238E27FC236}">
                <a16:creationId xmlns:a16="http://schemas.microsoft.com/office/drawing/2014/main" id="{AAF8CB91-A5AB-3DD0-2A49-07D1EB57CC5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927207" y="1483765"/>
            <a:ext cx="1190300" cy="1192841"/>
          </a:xfrm>
          <a:prstGeom prst="rect">
            <a:avLst/>
          </a:prstGeom>
          <a:ln/>
        </p:spPr>
      </p:pic>
      <p:sp>
        <p:nvSpPr>
          <p:cNvPr id="33" name="a &lt;- ggplot(economics, aes(date, unemploy))…">
            <a:extLst>
              <a:ext uri="{FF2B5EF4-FFF2-40B4-BE49-F238E27FC236}">
                <a16:creationId xmlns:a16="http://schemas.microsoft.com/office/drawing/2014/main" id="{D2A468E0-0633-F809-6856-EAAFD49B7250}"/>
              </a:ext>
            </a:extLst>
          </p:cNvPr>
          <p:cNvSpPr txBox="1"/>
          <p:nvPr/>
        </p:nvSpPr>
        <p:spPr>
          <a:xfrm>
            <a:off x="11410187" y="1228550"/>
            <a:ext cx="2549359" cy="7143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110000"/>
              </a:lnSpc>
            </a:pPr>
            <a:r>
              <a:rPr lang="pt-BR" dirty="0"/>
              <a:t>- Dispersão (</a:t>
            </a:r>
            <a:r>
              <a:rPr lang="pt-BR" dirty="0" err="1"/>
              <a:t>Scatter</a:t>
            </a:r>
            <a:r>
              <a:rPr lang="pt-BR" dirty="0"/>
              <a:t>): </a:t>
            </a:r>
            <a:r>
              <a:rPr lang="pt-BR" dirty="0" err="1"/>
              <a:t>plot</a:t>
            </a:r>
            <a:r>
              <a:rPr lang="pt-BR" dirty="0"/>
              <a:t>(</a:t>
            </a:r>
            <a:r>
              <a:rPr lang="pt-BR" dirty="0" err="1"/>
              <a:t>x</a:t>
            </a:r>
            <a:r>
              <a:rPr lang="pt-BR" dirty="0"/>
              <a:t>, </a:t>
            </a:r>
            <a:r>
              <a:rPr lang="pt-BR" dirty="0" err="1"/>
              <a:t>y</a:t>
            </a:r>
            <a:r>
              <a:rPr lang="pt-BR" dirty="0"/>
              <a:t>) </a:t>
            </a:r>
          </a:p>
          <a:p>
            <a:pPr>
              <a:lnSpc>
                <a:spcPct val="110000"/>
              </a:lnSpc>
            </a:pPr>
            <a:endParaRPr lang="pt-BR" dirty="0"/>
          </a:p>
          <a:p>
            <a:pPr>
              <a:lnSpc>
                <a:spcPct val="110000"/>
              </a:lnSpc>
            </a:pPr>
            <a:endParaRPr lang="pt-BR" dirty="0"/>
          </a:p>
          <a:p>
            <a:pPr>
              <a:lnSpc>
                <a:spcPct val="110000"/>
              </a:lnSpc>
            </a:pPr>
            <a:endParaRPr lang="pt-BR" dirty="0"/>
          </a:p>
          <a:p>
            <a:pPr>
              <a:lnSpc>
                <a:spcPct val="110000"/>
              </a:lnSpc>
            </a:pPr>
            <a:endParaRPr lang="pt-BR" dirty="0"/>
          </a:p>
          <a:p>
            <a:pPr>
              <a:lnSpc>
                <a:spcPct val="110000"/>
              </a:lnSpc>
            </a:pPr>
            <a:endParaRPr lang="pt-BR" dirty="0"/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pt-BR" dirty="0"/>
              <a:t>Histograma: </a:t>
            </a:r>
            <a:r>
              <a:rPr lang="pt-BR" dirty="0" err="1"/>
              <a:t>hist</a:t>
            </a:r>
            <a:r>
              <a:rPr lang="pt-BR" dirty="0"/>
              <a:t>(</a:t>
            </a:r>
            <a:r>
              <a:rPr lang="pt-BR" dirty="0" err="1"/>
              <a:t>x</a:t>
            </a:r>
            <a:r>
              <a:rPr lang="pt-BR" dirty="0"/>
              <a:t>) </a:t>
            </a:r>
          </a:p>
          <a:p>
            <a:pPr marL="171450" indent="-171450">
              <a:lnSpc>
                <a:spcPct val="110000"/>
              </a:lnSpc>
              <a:buFontTx/>
              <a:buChar char="-"/>
            </a:pPr>
            <a:endParaRPr lang="pt-BR" dirty="0"/>
          </a:p>
          <a:p>
            <a:pPr marL="171450" indent="-171450">
              <a:lnSpc>
                <a:spcPct val="110000"/>
              </a:lnSpc>
              <a:buFontTx/>
              <a:buChar char="-"/>
            </a:pPr>
            <a:endParaRPr lang="pt-BR" dirty="0"/>
          </a:p>
          <a:p>
            <a:pPr marL="171450" indent="-171450">
              <a:lnSpc>
                <a:spcPct val="110000"/>
              </a:lnSpc>
              <a:buFontTx/>
              <a:buChar char="-"/>
            </a:pPr>
            <a:endParaRPr lang="pt-BR" dirty="0"/>
          </a:p>
          <a:p>
            <a:pPr marL="171450" indent="-171450">
              <a:lnSpc>
                <a:spcPct val="110000"/>
              </a:lnSpc>
              <a:buFontTx/>
              <a:buChar char="-"/>
            </a:pPr>
            <a:endParaRPr lang="pt-BR" dirty="0"/>
          </a:p>
          <a:p>
            <a:pPr marL="171450" indent="-171450">
              <a:lnSpc>
                <a:spcPct val="110000"/>
              </a:lnSpc>
              <a:buFontTx/>
              <a:buChar char="-"/>
            </a:pPr>
            <a:endParaRPr lang="pt-BR" dirty="0"/>
          </a:p>
          <a:p>
            <a:pPr marL="171450" indent="-171450">
              <a:lnSpc>
                <a:spcPct val="110000"/>
              </a:lnSpc>
              <a:buFontTx/>
              <a:buChar char="-"/>
            </a:pPr>
            <a:endParaRPr lang="pt-BR" dirty="0"/>
          </a:p>
          <a:p>
            <a:pPr>
              <a:lnSpc>
                <a:spcPct val="110000"/>
              </a:lnSpc>
            </a:pPr>
            <a:endParaRPr lang="pt-BR" dirty="0"/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pt-BR" dirty="0" err="1"/>
              <a:t>Boxplot</a:t>
            </a:r>
            <a:r>
              <a:rPr lang="pt-BR" dirty="0"/>
              <a:t>: </a:t>
            </a:r>
            <a:r>
              <a:rPr lang="pt-BR" dirty="0" err="1"/>
              <a:t>boxplot</a:t>
            </a:r>
            <a:r>
              <a:rPr lang="pt-BR" dirty="0"/>
              <a:t>(</a:t>
            </a:r>
            <a:r>
              <a:rPr lang="pt-BR" dirty="0" err="1"/>
              <a:t>y</a:t>
            </a:r>
            <a:r>
              <a:rPr lang="pt-BR" dirty="0"/>
              <a:t> ~ grupo) (Visualizar quartis e outliers)</a:t>
            </a:r>
          </a:p>
          <a:p>
            <a:pPr marL="171450" indent="-171450">
              <a:lnSpc>
                <a:spcPct val="110000"/>
              </a:lnSpc>
              <a:buFontTx/>
              <a:buChar char="-"/>
            </a:pPr>
            <a:endParaRPr lang="pt-BR" dirty="0"/>
          </a:p>
          <a:p>
            <a:pPr marL="171450" indent="-171450">
              <a:lnSpc>
                <a:spcPct val="110000"/>
              </a:lnSpc>
              <a:buFontTx/>
              <a:buChar char="-"/>
            </a:pPr>
            <a:endParaRPr lang="pt-BR" dirty="0"/>
          </a:p>
          <a:p>
            <a:pPr marL="171450" indent="-171450">
              <a:lnSpc>
                <a:spcPct val="110000"/>
              </a:lnSpc>
              <a:buFontTx/>
              <a:buChar char="-"/>
            </a:pPr>
            <a:endParaRPr lang="pt-BR" dirty="0"/>
          </a:p>
          <a:p>
            <a:pPr marL="171450" indent="-171450">
              <a:lnSpc>
                <a:spcPct val="110000"/>
              </a:lnSpc>
              <a:buFontTx/>
              <a:buChar char="-"/>
            </a:pPr>
            <a:endParaRPr lang="pt-BR" dirty="0"/>
          </a:p>
          <a:p>
            <a:pPr marL="171450" indent="-171450">
              <a:lnSpc>
                <a:spcPct val="110000"/>
              </a:lnSpc>
              <a:buFontTx/>
              <a:buChar char="-"/>
            </a:pPr>
            <a:endParaRPr lang="pt-BR" dirty="0"/>
          </a:p>
          <a:p>
            <a:pPr marL="171450" indent="-171450">
              <a:lnSpc>
                <a:spcPct val="110000"/>
              </a:lnSpc>
              <a:buFontTx/>
              <a:buChar char="-"/>
            </a:pPr>
            <a:endParaRPr lang="pt-BR" dirty="0"/>
          </a:p>
          <a:p>
            <a:pPr>
              <a:lnSpc>
                <a:spcPct val="110000"/>
              </a:lnSpc>
            </a:pPr>
            <a:endParaRPr lang="pt-BR" dirty="0"/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pt-BR" dirty="0"/>
              <a:t>Barras: </a:t>
            </a:r>
            <a:r>
              <a:rPr lang="pt-BR" dirty="0" err="1"/>
              <a:t>barplot</a:t>
            </a:r>
            <a:r>
              <a:rPr lang="pt-BR" dirty="0"/>
              <a:t>(altura) (Para contagens/frequências).</a:t>
            </a:r>
            <a:endParaRPr lang="fr-FR" dirty="0"/>
          </a:p>
          <a:p>
            <a:pPr marL="171450" indent="-171450">
              <a:lnSpc>
                <a:spcPct val="110000"/>
              </a:lnSpc>
              <a:buFontTx/>
              <a:buChar char="-"/>
            </a:pPr>
            <a:endParaRPr lang="fr-FR" dirty="0"/>
          </a:p>
          <a:p>
            <a:pPr>
              <a:lnSpc>
                <a:spcPct val="110000"/>
              </a:lnSpc>
            </a:pPr>
            <a:endParaRPr lang="pt-BR" dirty="0"/>
          </a:p>
          <a:p>
            <a:pPr>
              <a:lnSpc>
                <a:spcPct val="110000"/>
              </a:lnSpc>
            </a:pPr>
            <a:r>
              <a:rPr lang="pt-BR" dirty="0"/>
              <a:t> </a:t>
            </a:r>
            <a:endParaRPr lang="fr-FR" dirty="0"/>
          </a:p>
          <a:p>
            <a:pPr>
              <a:lnSpc>
                <a:spcPct val="110000"/>
              </a:lnSpc>
            </a:pPr>
            <a:endParaRPr lang="fr-FR" dirty="0"/>
          </a:p>
          <a:p>
            <a:pPr>
              <a:lnSpc>
                <a:spcPct val="11000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endParaRPr sz="900" dirty="0"/>
          </a:p>
        </p:txBody>
      </p:sp>
      <p:pic>
        <p:nvPicPr>
          <p:cNvPr id="34" name="image6.png">
            <a:extLst>
              <a:ext uri="{FF2B5EF4-FFF2-40B4-BE49-F238E27FC236}">
                <a16:creationId xmlns:a16="http://schemas.microsoft.com/office/drawing/2014/main" id="{60F0118B-BA6E-8A3B-2A71-AF669363DC3E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480514" y="2830898"/>
            <a:ext cx="2401712" cy="1365753"/>
          </a:xfrm>
          <a:prstGeom prst="rect">
            <a:avLst/>
          </a:prstGeom>
          <a:ln/>
        </p:spPr>
      </p:pic>
      <p:pic>
        <p:nvPicPr>
          <p:cNvPr id="35" name="image3.png">
            <a:extLst>
              <a:ext uri="{FF2B5EF4-FFF2-40B4-BE49-F238E27FC236}">
                <a16:creationId xmlns:a16="http://schemas.microsoft.com/office/drawing/2014/main" id="{B7300AF6-A7FC-7909-2FF4-0988F8A87BDA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1455940" y="4930180"/>
            <a:ext cx="2401712" cy="1396530"/>
          </a:xfrm>
          <a:prstGeom prst="rect">
            <a:avLst/>
          </a:prstGeom>
          <a:ln/>
        </p:spPr>
      </p:pic>
      <p:sp>
        <p:nvSpPr>
          <p:cNvPr id="36" name="Rectángulo">
            <a:extLst>
              <a:ext uri="{FF2B5EF4-FFF2-40B4-BE49-F238E27FC236}">
                <a16:creationId xmlns:a16="http://schemas.microsoft.com/office/drawing/2014/main" id="{810629C9-8E36-5B8D-1D13-6C552D99A944}"/>
              </a:ext>
            </a:extLst>
          </p:cNvPr>
          <p:cNvSpPr/>
          <p:nvPr/>
        </p:nvSpPr>
        <p:spPr>
          <a:xfrm>
            <a:off x="7307560" y="5441850"/>
            <a:ext cx="4046486" cy="2560193"/>
          </a:xfrm>
          <a:prstGeom prst="rect">
            <a:avLst/>
          </a:prstGeom>
          <a:solidFill>
            <a:srgbClr val="75D142">
              <a:alpha val="19796"/>
            </a:srgbClr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3DA642"/>
                </a:solidFill>
              </a:defRPr>
            </a:pPr>
            <a:r>
              <a:rPr lang="pt-BR" sz="2000" b="0" dirty="0">
                <a:solidFill>
                  <a:srgbClr val="3DA642"/>
                </a:solidFill>
              </a:rPr>
              <a:t>PARAMETROS GRAFICOS E DE ESTILO</a:t>
            </a:r>
            <a:endParaRPr lang="pt-BR" dirty="0"/>
          </a:p>
          <a:p>
            <a:endParaRPr lang="pt-BR" dirty="0"/>
          </a:p>
          <a:p>
            <a:r>
              <a:rPr lang="pt-BR" dirty="0" err="1">
                <a:solidFill>
                  <a:srgbClr val="FF0000"/>
                </a:solidFill>
              </a:rPr>
              <a:t>main</a:t>
            </a:r>
            <a:r>
              <a:rPr lang="pt-BR" dirty="0">
                <a:solidFill>
                  <a:srgbClr val="FF0000"/>
                </a:solidFill>
              </a:rPr>
              <a:t> = "Título” </a:t>
            </a:r>
            <a:r>
              <a:rPr lang="pt-BR" dirty="0">
                <a:sym typeface="Wingdings" pitchFamily="2" charset="2"/>
              </a:rPr>
              <a:t> </a:t>
            </a:r>
            <a:r>
              <a:rPr lang="pt-BR" dirty="0"/>
              <a:t>Título principal.</a:t>
            </a:r>
            <a:endParaRPr lang="fr-FR" dirty="0"/>
          </a:p>
          <a:p>
            <a:r>
              <a:rPr lang="pt-BR" dirty="0" err="1">
                <a:solidFill>
                  <a:srgbClr val="FF0000"/>
                </a:solidFill>
              </a:rPr>
              <a:t>xlab</a:t>
            </a:r>
            <a:r>
              <a:rPr lang="pt-BR" dirty="0">
                <a:solidFill>
                  <a:srgbClr val="FF0000"/>
                </a:solidFill>
              </a:rPr>
              <a:t> = "Eixo X", </a:t>
            </a:r>
            <a:r>
              <a:rPr lang="pt-BR" dirty="0" err="1">
                <a:solidFill>
                  <a:srgbClr val="FF0000"/>
                </a:solidFill>
              </a:rPr>
              <a:t>ylab</a:t>
            </a:r>
            <a:r>
              <a:rPr lang="pt-BR" dirty="0">
                <a:solidFill>
                  <a:srgbClr val="FF0000"/>
                </a:solidFill>
              </a:rPr>
              <a:t> = "Eixo </a:t>
            </a:r>
            <a:r>
              <a:rPr lang="pt-BR" dirty="0" err="1">
                <a:solidFill>
                  <a:srgbClr val="FF0000"/>
                </a:solidFill>
              </a:rPr>
              <a:t>Y</a:t>
            </a:r>
            <a:r>
              <a:rPr lang="pt-BR" dirty="0">
                <a:solidFill>
                  <a:srgbClr val="FF0000"/>
                </a:solidFill>
              </a:rPr>
              <a:t>” </a:t>
            </a:r>
            <a:r>
              <a:rPr lang="pt-BR" dirty="0">
                <a:sym typeface="Wingdings" pitchFamily="2" charset="2"/>
              </a:rPr>
              <a:t> </a:t>
            </a:r>
            <a:r>
              <a:rPr lang="pt-BR" dirty="0"/>
              <a:t>Rótulos dos eixos.</a:t>
            </a:r>
            <a:endParaRPr lang="fr-FR" dirty="0"/>
          </a:p>
          <a:p>
            <a:r>
              <a:rPr lang="pt-BR" dirty="0" err="1">
                <a:solidFill>
                  <a:srgbClr val="FF0000"/>
                </a:solidFill>
              </a:rPr>
              <a:t>col</a:t>
            </a:r>
            <a:r>
              <a:rPr lang="pt-BR" dirty="0">
                <a:solidFill>
                  <a:srgbClr val="FF0000"/>
                </a:solidFill>
              </a:rPr>
              <a:t> = "blue": </a:t>
            </a:r>
            <a:r>
              <a:rPr lang="pt-BR" dirty="0"/>
              <a:t>Cor (pode usar nomes ou </a:t>
            </a:r>
            <a:r>
              <a:rPr lang="pt-BR" dirty="0" err="1"/>
              <a:t>hex</a:t>
            </a:r>
            <a:r>
              <a:rPr lang="pt-BR" dirty="0"/>
              <a:t> </a:t>
            </a:r>
            <a:r>
              <a:rPr lang="pt-BR" dirty="0" err="1"/>
              <a:t>codes</a:t>
            </a:r>
            <a:r>
              <a:rPr lang="pt-BR" dirty="0"/>
              <a:t>).</a:t>
            </a:r>
            <a:endParaRPr lang="fr-FR" dirty="0"/>
          </a:p>
          <a:p>
            <a:r>
              <a:rPr lang="pt-BR" dirty="0" err="1">
                <a:solidFill>
                  <a:srgbClr val="FF0000"/>
                </a:solidFill>
              </a:rPr>
              <a:t>pch</a:t>
            </a:r>
            <a:r>
              <a:rPr lang="pt-BR" dirty="0">
                <a:solidFill>
                  <a:srgbClr val="FF0000"/>
                </a:solidFill>
              </a:rPr>
              <a:t> = 19</a:t>
            </a:r>
            <a:r>
              <a:rPr lang="pt-BR" dirty="0"/>
              <a:t>: Tipo do ponto (19 é bolinha sólida).</a:t>
            </a:r>
            <a:endParaRPr lang="fr-FR" dirty="0"/>
          </a:p>
          <a:p>
            <a:r>
              <a:rPr lang="pt-BR" dirty="0" err="1">
                <a:solidFill>
                  <a:srgbClr val="FF0000"/>
                </a:solidFill>
              </a:rPr>
              <a:t>lwd</a:t>
            </a:r>
            <a:r>
              <a:rPr lang="pt-BR" dirty="0">
                <a:solidFill>
                  <a:srgbClr val="FF0000"/>
                </a:solidFill>
              </a:rPr>
              <a:t> = 2</a:t>
            </a:r>
            <a:r>
              <a:rPr lang="pt-BR" dirty="0"/>
              <a:t>: Espessura da linha.</a:t>
            </a:r>
            <a:endParaRPr lang="fr-FR" dirty="0"/>
          </a:p>
          <a:p>
            <a:r>
              <a:rPr lang="pt-BR" dirty="0" err="1">
                <a:solidFill>
                  <a:srgbClr val="FF0000"/>
                </a:solidFill>
              </a:rPr>
              <a:t>las</a:t>
            </a:r>
            <a:r>
              <a:rPr lang="pt-BR" dirty="0">
                <a:solidFill>
                  <a:srgbClr val="FF0000"/>
                </a:solidFill>
              </a:rPr>
              <a:t> = 1</a:t>
            </a:r>
            <a:r>
              <a:rPr lang="pt-BR" dirty="0"/>
              <a:t>: Rotaciona os números dos eixos (horizontal).</a:t>
            </a:r>
            <a:endParaRPr lang="fr-FR" dirty="0"/>
          </a:p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9" name="Rectángulo">
            <a:extLst>
              <a:ext uri="{FF2B5EF4-FFF2-40B4-BE49-F238E27FC236}">
                <a16:creationId xmlns:a16="http://schemas.microsoft.com/office/drawing/2014/main" id="{00EB5439-86CF-A6D0-CA82-579F30B18A1E}"/>
              </a:ext>
            </a:extLst>
          </p:cNvPr>
          <p:cNvSpPr/>
          <p:nvPr/>
        </p:nvSpPr>
        <p:spPr>
          <a:xfrm>
            <a:off x="7276000" y="8002044"/>
            <a:ext cx="4078046" cy="2628425"/>
          </a:xfrm>
          <a:prstGeom prst="rect">
            <a:avLst/>
          </a:prstGeom>
          <a:solidFill>
            <a:srgbClr val="75D142">
              <a:alpha val="19796"/>
            </a:srgbClr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3DA642"/>
                </a:solidFill>
              </a:defRPr>
            </a:pPr>
            <a:r>
              <a:rPr lang="pt-BR" sz="2000" b="0" dirty="0">
                <a:solidFill>
                  <a:srgbClr val="3DA642"/>
                </a:solidFill>
              </a:rPr>
              <a:t>PARA SALVAR</a:t>
            </a:r>
          </a:p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3DA642"/>
                </a:solidFill>
              </a:defRPr>
            </a:pPr>
            <a:endParaRPr lang="pt-BR" sz="2000" b="0" dirty="0">
              <a:solidFill>
                <a:srgbClr val="3DA642"/>
              </a:solidFill>
            </a:endParaRPr>
          </a:p>
          <a:p>
            <a:r>
              <a:rPr lang="pt-BR" sz="1600" dirty="0" err="1">
                <a:solidFill>
                  <a:srgbClr val="FF0000"/>
                </a:solidFill>
              </a:rPr>
              <a:t>pdf</a:t>
            </a:r>
            <a:r>
              <a:rPr lang="pt-BR" sz="1600" dirty="0">
                <a:solidFill>
                  <a:srgbClr val="FF0000"/>
                </a:solidFill>
              </a:rPr>
              <a:t>() </a:t>
            </a:r>
            <a:r>
              <a:rPr lang="pt-BR" dirty="0">
                <a:solidFill>
                  <a:srgbClr val="188038"/>
                </a:solidFill>
                <a:latin typeface="Cardo"/>
                <a:ea typeface="Cardo"/>
                <a:cs typeface="Cardo"/>
              </a:rPr>
              <a:t>→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salvar gráficos em PDF no </a:t>
            </a:r>
            <a:r>
              <a:rPr lang="pt-B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fr-FR" dirty="0"/>
              <a:t> </a:t>
            </a:r>
          </a:p>
          <a:p>
            <a:r>
              <a:rPr lang="pt-BR" sz="1600" dirty="0" err="1">
                <a:solidFill>
                  <a:srgbClr val="FF0000"/>
                </a:solidFill>
              </a:rPr>
              <a:t>ggsave</a:t>
            </a:r>
            <a:r>
              <a:rPr lang="pt-BR" sz="1600" dirty="0">
                <a:solidFill>
                  <a:srgbClr val="FF0000"/>
                </a:solidFill>
              </a:rPr>
              <a:t>()  </a:t>
            </a:r>
            <a:r>
              <a:rPr lang="pt-BR" dirty="0">
                <a:sym typeface="Wingdings" pitchFamily="2" charset="2"/>
              </a:rPr>
              <a:t> </a:t>
            </a:r>
            <a:r>
              <a:rPr lang="pt-BR" dirty="0"/>
              <a:t>Se usar ggplot2 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1028" name="Picture 4" descr="seaborn.barplot — seaborn 0.13.2 documentation">
            <a:extLst>
              <a:ext uri="{FF2B5EF4-FFF2-40B4-BE49-F238E27FC236}">
                <a16:creationId xmlns:a16="http://schemas.microsoft.com/office/drawing/2014/main" id="{62397A9A-4B53-1388-BE70-20F6F4952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670" y="6902066"/>
            <a:ext cx="2302708" cy="17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22364</TotalTime>
  <Words>1026</Words>
  <Application>Microsoft Macintosh PowerPoint</Application>
  <PresentationFormat>Personnalisé</PresentationFormat>
  <Paragraphs>178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Arial</vt:lpstr>
      <vt:lpstr>Avenir</vt:lpstr>
      <vt:lpstr>Cardo</vt:lpstr>
      <vt:lpstr>Helvetica</vt:lpstr>
      <vt:lpstr>Helvetica Light</vt:lpstr>
      <vt:lpstr>Times New Roman</vt:lpstr>
      <vt:lpstr>Wingdings</vt:lpstr>
      <vt:lpstr>White</vt:lpstr>
      <vt:lpstr>Introduction to R :  CHEATSHEET       Alexandre Bentaberry-Rosa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with ggplot2 : : CHEATSHEET </dc:title>
  <cp:lastModifiedBy>Alexandre Bentaberry Rosa</cp:lastModifiedBy>
  <cp:revision>14</cp:revision>
  <dcterms:modified xsi:type="dcterms:W3CDTF">2026-05-03T23:13:29Z</dcterms:modified>
</cp:coreProperties>
</file>